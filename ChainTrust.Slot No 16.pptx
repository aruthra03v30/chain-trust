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type="screen16x9" cy="6858000" cx="12192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  <p:clrMru>
    <a:srgbClr val="78F8A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tableStyles" Target="tableStyle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876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8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8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9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820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82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104882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83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3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104883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3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9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50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5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104885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5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855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56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5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104885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5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86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62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6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64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6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104886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6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82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104882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2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8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69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70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7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104887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7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3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84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4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104884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4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84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4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104884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4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/>
              <a:t>Click to edit Master title style</a:t>
            </a:r>
          </a:p>
        </p:txBody>
      </p:sp>
      <p:sp>
        <p:nvSpPr>
          <p:cNvPr id="104882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3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104883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TextBox 13"/>
          <p:cNvSpPr txBox="1"/>
          <p:nvPr/>
        </p:nvSpPr>
        <p:spPr>
          <a:xfrm>
            <a:off x="685800" y="1325880"/>
            <a:ext cx="6400800" cy="65024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38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 TRUST</a:t>
            </a:r>
          </a:p>
        </p:txBody>
      </p:sp>
      <p:sp>
        <p:nvSpPr>
          <p:cNvPr id="1048585" name="TextBox 14"/>
          <p:cNvSpPr txBox="1"/>
          <p:nvPr/>
        </p:nvSpPr>
        <p:spPr>
          <a:xfrm>
            <a:off x="685800" y="2148840"/>
            <a:ext cx="7132320" cy="82804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250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Blockchain-Based Freelance Contract
&amp; Payment Escrow System</a:t>
            </a:r>
          </a:p>
        </p:txBody>
      </p:sp>
      <p:sp>
        <p:nvSpPr>
          <p:cNvPr id="1048586" name="TextBox 15"/>
          <p:cNvSpPr txBox="1"/>
          <p:nvPr/>
        </p:nvSpPr>
        <p:spPr>
          <a:xfrm>
            <a:off x="713232" y="3429000"/>
            <a:ext cx="6766560" cy="307777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400" i="1" lang="en-IN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b="0" dirty="0" sz="1400" i="1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Trustless contracts • Milestone escrow • Proof of delivery • Dispute transparency</a:t>
            </a:r>
            <a:r>
              <a:rPr b="0" dirty="0" sz="1400" i="1" lang="en-IN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b="0" dirty="0" sz="1400" i="1">
              <a:solidFill>
                <a:srgbClr val="F5F8F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7" name="Rounded Rectangle 16"/>
          <p:cNvSpPr/>
          <p:nvPr/>
        </p:nvSpPr>
        <p:spPr>
          <a:xfrm>
            <a:off x="685800" y="4242816"/>
            <a:ext cx="4206240" cy="1179576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8" name="TextBox 17"/>
          <p:cNvSpPr txBox="1"/>
          <p:nvPr/>
        </p:nvSpPr>
        <p:spPr>
          <a:xfrm>
            <a:off x="914400" y="4334256"/>
            <a:ext cx="3749039" cy="1077218"/>
          </a:xfrm>
          <a:prstGeom prst="rect"/>
          <a:noFill/>
        </p:spPr>
        <p:txBody>
          <a:bodyPr anchor="t" wrap="square">
            <a:spAutoFit/>
          </a:bodyPr>
          <a:p>
            <a:r>
              <a:rPr b="1" dirty="0" sz="16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Name: </a:t>
            </a:r>
            <a:r>
              <a:rPr b="1" dirty="0" sz="1600" lang="en-US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b="1" dirty="0" sz="1600" lang="en-US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b="1" dirty="0" sz="1600" lang="en-US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1. Aruthra V S</a:t>
            </a:r>
            <a:br>
              <a:rPr b="1" dirty="0" sz="1600" lang="en-US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b="1" dirty="0" sz="1600" lang="en-US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2. </a:t>
            </a:r>
            <a:r>
              <a:rPr b="1" dirty="0" sz="1600" lang="en-US" err="1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Bowyasri</a:t>
            </a:r>
            <a:r>
              <a:rPr b="1" dirty="0" sz="1600" lang="en-US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</a:t>
            </a:r>
            <a:br>
              <a:rPr b="1" dirty="0" sz="1600" lang="en-US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b="1" dirty="0" sz="1600" lang="en-US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3. Abinaya R</a:t>
            </a:r>
            <a:endParaRPr b="1" dirty="0" sz="1600">
              <a:solidFill>
                <a:srgbClr val="F5F8F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9" name="TextBox 18"/>
          <p:cNvSpPr txBox="1"/>
          <p:nvPr/>
        </p:nvSpPr>
        <p:spPr>
          <a:xfrm>
            <a:off x="713232" y="5715000"/>
            <a:ext cx="7132320" cy="307777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40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College: </a:t>
            </a:r>
            <a:r>
              <a:rPr b="0" dirty="0" sz="1400" lang="en-US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Shrimati Indira Gandhi College</a:t>
            </a:r>
            <a:endParaRPr b="0" dirty="0" sz="1400">
              <a:solidFill>
                <a:srgbClr val="B0BED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0" name="TextBox 19"/>
          <p:cNvSpPr txBox="1"/>
          <p:nvPr/>
        </p:nvSpPr>
        <p:spPr>
          <a:xfrm>
            <a:off x="8229600" y="5715000"/>
            <a:ext cx="3291840" cy="261610"/>
          </a:xfrm>
          <a:prstGeom prst="rect"/>
          <a:noFill/>
        </p:spPr>
        <p:txBody>
          <a:bodyPr anchor="t" wrap="square">
            <a:spAutoFit/>
          </a:bodyPr>
          <a:p>
            <a:pPr algn="r"/>
            <a:r>
              <a:rPr b="1" sz="11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/ Student Innovation</a:t>
            </a:r>
          </a:p>
        </p:txBody>
      </p:sp>
      <p:sp>
        <p:nvSpPr>
          <p:cNvPr id="1048591" name="TextBox 20"/>
          <p:cNvSpPr txBox="1"/>
          <p:nvPr/>
        </p:nvSpPr>
        <p:spPr>
          <a:xfrm>
            <a:off x="502920" y="6510528"/>
            <a:ext cx="8961120" cy="253916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05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 TRUST  •  Blockchain-Based Freelance Contract &amp; Payment Escrow</a:t>
            </a:r>
          </a:p>
        </p:txBody>
      </p:sp>
      <p:sp>
        <p:nvSpPr>
          <p:cNvPr id="1048592" name="TextBox 21"/>
          <p:cNvSpPr txBox="1"/>
          <p:nvPr/>
        </p:nvSpPr>
        <p:spPr>
          <a:xfrm>
            <a:off x="11384280" y="6473952"/>
            <a:ext cx="320040" cy="230832"/>
          </a:xfrm>
          <a:prstGeom prst="rect"/>
          <a:noFill/>
        </p:spPr>
        <p:txBody>
          <a:bodyPr anchor="t" wrap="square">
            <a:spAutoFit/>
          </a:bodyPr>
          <a:p>
            <a:pPr algn="r"/>
            <a:r>
              <a:rPr b="0" sz="90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pic>
        <p:nvPicPr>
          <p:cNvPr id="2097152" name="Picture 25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123386" y="920234"/>
            <a:ext cx="4648200" cy="4648200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extBox 1"/>
          <p:cNvSpPr txBox="1"/>
          <p:nvPr/>
        </p:nvSpPr>
        <p:spPr>
          <a:xfrm>
            <a:off x="502920" y="320040"/>
            <a:ext cx="457200" cy="276999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2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1048594" name="TextBox 2"/>
          <p:cNvSpPr txBox="1"/>
          <p:nvPr/>
        </p:nvSpPr>
        <p:spPr>
          <a:xfrm>
            <a:off x="960120" y="246888"/>
            <a:ext cx="10607040" cy="50292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27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048595" name="TextBox 3"/>
          <p:cNvSpPr txBox="1"/>
          <p:nvPr/>
        </p:nvSpPr>
        <p:spPr>
          <a:xfrm>
            <a:off x="978408" y="749808"/>
            <a:ext cx="10241280" cy="57404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60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Freelance work often depends on trust between strangers, while payment and dispute handling remain centralized.</a:t>
            </a:r>
          </a:p>
        </p:txBody>
      </p:sp>
      <p:sp>
        <p:nvSpPr>
          <p:cNvPr id="1048596" name="Rounded Rectangle 4"/>
          <p:cNvSpPr/>
          <p:nvPr/>
        </p:nvSpPr>
        <p:spPr>
          <a:xfrm>
            <a:off x="640080" y="1325879"/>
            <a:ext cx="3474720" cy="4654297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7" name="TextBox 5"/>
          <p:cNvSpPr txBox="1"/>
          <p:nvPr/>
        </p:nvSpPr>
        <p:spPr>
          <a:xfrm>
            <a:off x="841247" y="1490472"/>
            <a:ext cx="3072384" cy="3231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500">
                <a:solidFill>
                  <a:srgbClr val="FF65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 RISK</a:t>
            </a:r>
          </a:p>
        </p:txBody>
      </p:sp>
      <p:sp>
        <p:nvSpPr>
          <p:cNvPr id="1048598" name="TextBox 6"/>
          <p:cNvSpPr txBox="1"/>
          <p:nvPr/>
        </p:nvSpPr>
        <p:spPr>
          <a:xfrm>
            <a:off x="877193" y="1801367"/>
            <a:ext cx="3072384" cy="1780539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6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Clients may delay, reduce or withhold payment after work is completed.
Freelancers have limited leverage once deliverables are submitted.</a:t>
            </a:r>
          </a:p>
        </p:txBody>
      </p:sp>
      <p:sp>
        <p:nvSpPr>
          <p:cNvPr id="1048599" name="Rounded Rectangle 7"/>
          <p:cNvSpPr/>
          <p:nvPr/>
        </p:nvSpPr>
        <p:spPr>
          <a:xfrm>
            <a:off x="4343400" y="1325880"/>
            <a:ext cx="3474720" cy="459943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0" name="TextBox 8"/>
          <p:cNvSpPr txBox="1"/>
          <p:nvPr/>
        </p:nvSpPr>
        <p:spPr>
          <a:xfrm>
            <a:off x="4544568" y="1490472"/>
            <a:ext cx="3072384" cy="3231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dirty="0" sz="1500">
                <a:solidFill>
                  <a:srgbClr val="FFB0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CONTRACT AMBIGUITY</a:t>
            </a:r>
          </a:p>
        </p:txBody>
      </p:sp>
      <p:sp>
        <p:nvSpPr>
          <p:cNvPr id="1048601" name="TextBox 9"/>
          <p:cNvSpPr txBox="1"/>
          <p:nvPr/>
        </p:nvSpPr>
        <p:spPr>
          <a:xfrm>
            <a:off x="4544568" y="1892807"/>
            <a:ext cx="3072384" cy="1077218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6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Terms, milestones, revisions and acceptance criteria are often scattered across chats, documents and platforms.</a:t>
            </a:r>
          </a:p>
        </p:txBody>
      </p:sp>
      <p:sp>
        <p:nvSpPr>
          <p:cNvPr id="1048602" name="Rounded Rectangle 10"/>
          <p:cNvSpPr/>
          <p:nvPr/>
        </p:nvSpPr>
        <p:spPr>
          <a:xfrm>
            <a:off x="8046720" y="1325880"/>
            <a:ext cx="3474720" cy="4654296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3" name="TextBox 11"/>
          <p:cNvSpPr txBox="1"/>
          <p:nvPr/>
        </p:nvSpPr>
        <p:spPr>
          <a:xfrm>
            <a:off x="8247888" y="1490472"/>
            <a:ext cx="3072384" cy="3231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dirty="0" sz="1500">
                <a:solidFill>
                  <a:srgbClr val="8F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DISPUTE FRICTION</a:t>
            </a:r>
          </a:p>
        </p:txBody>
      </p:sp>
      <p:sp>
        <p:nvSpPr>
          <p:cNvPr id="1048604" name="TextBox 12"/>
          <p:cNvSpPr txBox="1"/>
          <p:nvPr/>
        </p:nvSpPr>
        <p:spPr>
          <a:xfrm>
            <a:off x="8247888" y="1892807"/>
            <a:ext cx="3072384" cy="1077218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6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platforms can control funds and decisions, while dispute evidence may be incomplete or difficult to verify.</a:t>
            </a:r>
          </a:p>
        </p:txBody>
      </p:sp>
      <p:sp>
        <p:nvSpPr>
          <p:cNvPr id="1048605" name="TextBox 13"/>
          <p:cNvSpPr txBox="1"/>
          <p:nvPr/>
        </p:nvSpPr>
        <p:spPr>
          <a:xfrm>
            <a:off x="640080" y="6071616"/>
            <a:ext cx="1097280" cy="246221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dirty="0" sz="1000" lang="en-IN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GAP</a:t>
            </a:r>
            <a:endParaRPr b="1" dirty="0" sz="1000">
              <a:solidFill>
                <a:srgbClr val="35D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6" name="TextBox 14"/>
          <p:cNvSpPr txBox="1"/>
          <p:nvPr/>
        </p:nvSpPr>
        <p:spPr>
          <a:xfrm>
            <a:off x="1662631" y="6044183"/>
            <a:ext cx="9509760" cy="292388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dirty="0" sz="13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shared, tamper-evident layer connecting contract terms → milestone evidence → escrow → release.</a:t>
            </a:r>
          </a:p>
        </p:txBody>
      </p:sp>
      <p:sp>
        <p:nvSpPr>
          <p:cNvPr id="1048607" name="TextBox 15"/>
          <p:cNvSpPr txBox="1"/>
          <p:nvPr/>
        </p:nvSpPr>
        <p:spPr>
          <a:xfrm>
            <a:off x="502920" y="6510528"/>
            <a:ext cx="8961120" cy="253916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05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 TRUST  •  Blockchain-Based Freelance Contract &amp; Payment Escrow</a:t>
            </a:r>
          </a:p>
        </p:txBody>
      </p:sp>
      <p:sp>
        <p:nvSpPr>
          <p:cNvPr id="1048608" name="TextBox 16"/>
          <p:cNvSpPr txBox="1"/>
          <p:nvPr/>
        </p:nvSpPr>
        <p:spPr>
          <a:xfrm>
            <a:off x="11384280" y="6473952"/>
            <a:ext cx="320040" cy="230832"/>
          </a:xfrm>
          <a:prstGeom prst="rect"/>
          <a:noFill/>
        </p:spPr>
        <p:txBody>
          <a:bodyPr anchor="t" wrap="square">
            <a:spAutoFit/>
          </a:bodyPr>
          <a:p>
            <a:pPr algn="r"/>
            <a:r>
              <a:rPr b="0" sz="90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pic>
        <p:nvPicPr>
          <p:cNvPr id="2097153" name="Picture 18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855488" y="3404602"/>
            <a:ext cx="3072384" cy="2319541"/>
          </a:xfrm>
          <a:prstGeom prst="rect"/>
        </p:spPr>
      </p:pic>
      <p:pic>
        <p:nvPicPr>
          <p:cNvPr id="2097154" name="Picture 20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590800" y="3285157"/>
            <a:ext cx="2979920" cy="2246963"/>
          </a:xfrm>
          <a:prstGeom prst="rect"/>
        </p:spPr>
      </p:pic>
      <p:pic>
        <p:nvPicPr>
          <p:cNvPr id="2097155" name="Picture 22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8295185" y="3162716"/>
            <a:ext cx="2924503" cy="2403275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extBox 1"/>
          <p:cNvSpPr txBox="1"/>
          <p:nvPr/>
        </p:nvSpPr>
        <p:spPr>
          <a:xfrm>
            <a:off x="502920" y="320040"/>
            <a:ext cx="457200" cy="276999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2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1048610" name="TextBox 2"/>
          <p:cNvSpPr txBox="1"/>
          <p:nvPr/>
        </p:nvSpPr>
        <p:spPr>
          <a:xfrm>
            <a:off x="960120" y="246888"/>
            <a:ext cx="10607040" cy="50292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dirty="0" sz="27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1048611" name="TextBox 3"/>
          <p:cNvSpPr txBox="1"/>
          <p:nvPr/>
        </p:nvSpPr>
        <p:spPr>
          <a:xfrm>
            <a:off x="978408" y="749808"/>
            <a:ext cx="10241280" cy="369332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 TRUST creates a programmable trust layer for freelance contracts and milestone payments.</a:t>
            </a:r>
          </a:p>
        </p:txBody>
      </p:sp>
      <p:sp>
        <p:nvSpPr>
          <p:cNvPr id="1048612" name="Oval 4"/>
          <p:cNvSpPr/>
          <p:nvPr/>
        </p:nvSpPr>
        <p:spPr>
          <a:xfrm>
            <a:off x="1170432" y="1417320"/>
            <a:ext cx="502920" cy="502920"/>
          </a:xfrm>
          <a:prstGeom prst="ellipse"/>
          <a:solidFill>
            <a:srgbClr val="35D3FF"/>
          </a:solidFill>
          <a:ln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3" name="TextBox 5"/>
          <p:cNvSpPr txBox="1"/>
          <p:nvPr/>
        </p:nvSpPr>
        <p:spPr>
          <a:xfrm>
            <a:off x="1170432" y="1554480"/>
            <a:ext cx="502920" cy="276999"/>
          </a:xfrm>
          <a:prstGeom prst="rect"/>
          <a:noFill/>
        </p:spPr>
        <p:txBody>
          <a:bodyPr anchor="t" wrap="square">
            <a:spAutoFit/>
          </a:bodyPr>
          <a:p>
            <a:pPr algn="ctr"/>
            <a:r>
              <a:rPr b="1" sz="1200">
                <a:solidFill>
                  <a:srgbClr val="080F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48614" name="Rounded Rectangle 6"/>
          <p:cNvSpPr/>
          <p:nvPr/>
        </p:nvSpPr>
        <p:spPr>
          <a:xfrm>
            <a:off x="502920" y="2148840"/>
            <a:ext cx="1828800" cy="205740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5" name="TextBox 7"/>
          <p:cNvSpPr txBox="1"/>
          <p:nvPr/>
        </p:nvSpPr>
        <p:spPr>
          <a:xfrm>
            <a:off x="704088" y="2313432"/>
            <a:ext cx="1426464" cy="3231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5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</a:p>
        </p:txBody>
      </p:sp>
      <p:sp>
        <p:nvSpPr>
          <p:cNvPr id="1048616" name="TextBox 8"/>
          <p:cNvSpPr txBox="1"/>
          <p:nvPr/>
        </p:nvSpPr>
        <p:spPr>
          <a:xfrm>
            <a:off x="704088" y="2715768"/>
            <a:ext cx="1426464" cy="1077218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6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 defines scope,
price &amp; milestones</a:t>
            </a:r>
          </a:p>
        </p:txBody>
      </p:sp>
      <p:cxnSp>
        <p:nvCxnSpPr>
          <p:cNvPr id="3145728" name="Connector 9"/>
          <p:cNvCxnSpPr>
            <a:cxnSpLocks/>
          </p:cNvCxnSpPr>
          <p:nvPr/>
        </p:nvCxnSpPr>
        <p:spPr>
          <a:xfrm>
            <a:off x="2331720" y="3154680"/>
            <a:ext cx="502919" cy="0"/>
          </a:xfrm>
          <a:prstGeom prst="line"/>
          <a:ln w="19050">
            <a:solidFill>
              <a:srgbClr val="B0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17" name="Oval 10"/>
          <p:cNvSpPr/>
          <p:nvPr/>
        </p:nvSpPr>
        <p:spPr>
          <a:xfrm>
            <a:off x="3502151" y="1417320"/>
            <a:ext cx="502920" cy="502920"/>
          </a:xfrm>
          <a:prstGeom prst="ellipse"/>
          <a:solidFill>
            <a:srgbClr val="8F70FF"/>
          </a:solidFill>
          <a:ln>
            <a:solidFill>
              <a:srgbClr val="8F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8" name="TextBox 11"/>
          <p:cNvSpPr txBox="1"/>
          <p:nvPr/>
        </p:nvSpPr>
        <p:spPr>
          <a:xfrm>
            <a:off x="3502151" y="1554480"/>
            <a:ext cx="502920" cy="276999"/>
          </a:xfrm>
          <a:prstGeom prst="rect"/>
          <a:noFill/>
        </p:spPr>
        <p:txBody>
          <a:bodyPr anchor="t" wrap="square">
            <a:spAutoFit/>
          </a:bodyPr>
          <a:p>
            <a:pPr algn="ctr"/>
            <a:r>
              <a:rPr b="1" sz="1200">
                <a:solidFill>
                  <a:srgbClr val="080F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048619" name="Rounded Rectangle 12"/>
          <p:cNvSpPr/>
          <p:nvPr/>
        </p:nvSpPr>
        <p:spPr>
          <a:xfrm>
            <a:off x="2834639" y="2148840"/>
            <a:ext cx="1828800" cy="205740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0" name="TextBox 13"/>
          <p:cNvSpPr txBox="1"/>
          <p:nvPr/>
        </p:nvSpPr>
        <p:spPr>
          <a:xfrm>
            <a:off x="3035808" y="2313432"/>
            <a:ext cx="1426464" cy="3231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dirty="0" sz="15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LOCK</a:t>
            </a:r>
          </a:p>
        </p:txBody>
      </p:sp>
      <p:sp>
        <p:nvSpPr>
          <p:cNvPr id="1048621" name="TextBox 14"/>
          <p:cNvSpPr txBox="1"/>
          <p:nvPr/>
        </p:nvSpPr>
        <p:spPr>
          <a:xfrm>
            <a:off x="3035808" y="2715768"/>
            <a:ext cx="1426464" cy="1077218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6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Funds are placed
in smart escrow</a:t>
            </a:r>
          </a:p>
        </p:txBody>
      </p:sp>
      <p:cxnSp>
        <p:nvCxnSpPr>
          <p:cNvPr id="3145729" name="Connector 15"/>
          <p:cNvCxnSpPr>
            <a:cxnSpLocks/>
          </p:cNvCxnSpPr>
          <p:nvPr/>
        </p:nvCxnSpPr>
        <p:spPr>
          <a:xfrm>
            <a:off x="4663440" y="3154680"/>
            <a:ext cx="502919" cy="0"/>
          </a:xfrm>
          <a:prstGeom prst="line"/>
          <a:ln w="19050">
            <a:solidFill>
              <a:srgbClr val="B0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22" name="Oval 16"/>
          <p:cNvSpPr/>
          <p:nvPr/>
        </p:nvSpPr>
        <p:spPr>
          <a:xfrm>
            <a:off x="5833871" y="1417320"/>
            <a:ext cx="502920" cy="502920"/>
          </a:xfrm>
          <a:prstGeom prst="ellipse"/>
          <a:solidFill>
            <a:srgbClr val="FFB048"/>
          </a:solidFill>
          <a:ln>
            <a:solidFill>
              <a:srgbClr val="FFB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3" name="TextBox 17"/>
          <p:cNvSpPr txBox="1"/>
          <p:nvPr/>
        </p:nvSpPr>
        <p:spPr>
          <a:xfrm>
            <a:off x="5833871" y="1554480"/>
            <a:ext cx="502920" cy="276999"/>
          </a:xfrm>
          <a:prstGeom prst="rect"/>
          <a:noFill/>
        </p:spPr>
        <p:txBody>
          <a:bodyPr anchor="t" wrap="square">
            <a:spAutoFit/>
          </a:bodyPr>
          <a:p>
            <a:pPr algn="ctr"/>
            <a:r>
              <a:rPr b="1" sz="1200">
                <a:solidFill>
                  <a:srgbClr val="080F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048624" name="Rounded Rectangle 18"/>
          <p:cNvSpPr/>
          <p:nvPr/>
        </p:nvSpPr>
        <p:spPr>
          <a:xfrm>
            <a:off x="5166359" y="2148840"/>
            <a:ext cx="1828800" cy="205740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5" name="TextBox 19"/>
          <p:cNvSpPr txBox="1"/>
          <p:nvPr/>
        </p:nvSpPr>
        <p:spPr>
          <a:xfrm>
            <a:off x="5367527" y="2313432"/>
            <a:ext cx="1426464" cy="3231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500">
                <a:solidFill>
                  <a:srgbClr val="FFB0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</a:t>
            </a:r>
          </a:p>
        </p:txBody>
      </p:sp>
      <p:sp>
        <p:nvSpPr>
          <p:cNvPr id="1048626" name="TextBox 20"/>
          <p:cNvSpPr txBox="1"/>
          <p:nvPr/>
        </p:nvSpPr>
        <p:spPr>
          <a:xfrm>
            <a:off x="5367527" y="2715768"/>
            <a:ext cx="1426464" cy="830997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6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Freelancer submits
work + proof</a:t>
            </a:r>
          </a:p>
        </p:txBody>
      </p:sp>
      <p:cxnSp>
        <p:nvCxnSpPr>
          <p:cNvPr id="3145730" name="Connector 21"/>
          <p:cNvCxnSpPr>
            <a:cxnSpLocks/>
          </p:cNvCxnSpPr>
          <p:nvPr/>
        </p:nvCxnSpPr>
        <p:spPr>
          <a:xfrm>
            <a:off x="6995159" y="3154680"/>
            <a:ext cx="502920" cy="0"/>
          </a:xfrm>
          <a:prstGeom prst="line"/>
          <a:ln w="19050">
            <a:solidFill>
              <a:srgbClr val="B0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27" name="Oval 22"/>
          <p:cNvSpPr/>
          <p:nvPr/>
        </p:nvSpPr>
        <p:spPr>
          <a:xfrm>
            <a:off x="8165592" y="1417320"/>
            <a:ext cx="502920" cy="502920"/>
          </a:xfrm>
          <a:prstGeom prst="ellipse"/>
          <a:solidFill>
            <a:srgbClr val="43E29D"/>
          </a:solidFill>
          <a:ln>
            <a:solidFill>
              <a:srgbClr val="43E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8" name="TextBox 23"/>
          <p:cNvSpPr txBox="1"/>
          <p:nvPr/>
        </p:nvSpPr>
        <p:spPr>
          <a:xfrm>
            <a:off x="8165592" y="1554480"/>
            <a:ext cx="502920" cy="276999"/>
          </a:xfrm>
          <a:prstGeom prst="rect"/>
          <a:noFill/>
        </p:spPr>
        <p:txBody>
          <a:bodyPr anchor="t" wrap="square">
            <a:spAutoFit/>
          </a:bodyPr>
          <a:p>
            <a:pPr algn="ctr"/>
            <a:r>
              <a:rPr b="1" sz="1200">
                <a:solidFill>
                  <a:srgbClr val="080F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48629" name="Rounded Rectangle 24"/>
          <p:cNvSpPr/>
          <p:nvPr/>
        </p:nvSpPr>
        <p:spPr>
          <a:xfrm>
            <a:off x="7498079" y="2148840"/>
            <a:ext cx="1828800" cy="205740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0" name="TextBox 25"/>
          <p:cNvSpPr txBox="1"/>
          <p:nvPr/>
        </p:nvSpPr>
        <p:spPr>
          <a:xfrm>
            <a:off x="7699248" y="2313432"/>
            <a:ext cx="1426464" cy="3231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500">
                <a:solidFill>
                  <a:srgbClr val="43E2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</a:t>
            </a:r>
          </a:p>
        </p:txBody>
      </p:sp>
      <p:sp>
        <p:nvSpPr>
          <p:cNvPr id="1048631" name="TextBox 26"/>
          <p:cNvSpPr txBox="1"/>
          <p:nvPr/>
        </p:nvSpPr>
        <p:spPr>
          <a:xfrm>
            <a:off x="7699248" y="2715768"/>
            <a:ext cx="1426464" cy="105664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6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 accepts or
opens dispute</a:t>
            </a:r>
          </a:p>
        </p:txBody>
      </p:sp>
      <p:cxnSp>
        <p:nvCxnSpPr>
          <p:cNvPr id="3145731" name="Connector 27"/>
          <p:cNvCxnSpPr>
            <a:cxnSpLocks/>
          </p:cNvCxnSpPr>
          <p:nvPr/>
        </p:nvCxnSpPr>
        <p:spPr>
          <a:xfrm>
            <a:off x="9326880" y="3154680"/>
            <a:ext cx="502920" cy="0"/>
          </a:xfrm>
          <a:prstGeom prst="line"/>
          <a:ln w="19050">
            <a:solidFill>
              <a:srgbClr val="B0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632" name="Oval 28"/>
          <p:cNvSpPr/>
          <p:nvPr/>
        </p:nvSpPr>
        <p:spPr>
          <a:xfrm>
            <a:off x="10497312" y="1417320"/>
            <a:ext cx="502920" cy="502920"/>
          </a:xfrm>
          <a:prstGeom prst="ellipse"/>
          <a:solidFill>
            <a:srgbClr val="35D3FF"/>
          </a:solidFill>
          <a:ln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3" name="TextBox 29"/>
          <p:cNvSpPr txBox="1"/>
          <p:nvPr/>
        </p:nvSpPr>
        <p:spPr>
          <a:xfrm>
            <a:off x="10497312" y="1554480"/>
            <a:ext cx="502920" cy="276999"/>
          </a:xfrm>
          <a:prstGeom prst="rect"/>
          <a:noFill/>
        </p:spPr>
        <p:txBody>
          <a:bodyPr anchor="t" wrap="square">
            <a:spAutoFit/>
          </a:bodyPr>
          <a:p>
            <a:pPr algn="ctr"/>
            <a:r>
              <a:rPr b="1" sz="1200">
                <a:solidFill>
                  <a:srgbClr val="080F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048634" name="Rounded Rectangle 30"/>
          <p:cNvSpPr/>
          <p:nvPr/>
        </p:nvSpPr>
        <p:spPr>
          <a:xfrm>
            <a:off x="9829800" y="2148840"/>
            <a:ext cx="1828800" cy="205740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5" name="TextBox 31"/>
          <p:cNvSpPr txBox="1"/>
          <p:nvPr/>
        </p:nvSpPr>
        <p:spPr>
          <a:xfrm>
            <a:off x="10030968" y="2313432"/>
            <a:ext cx="1426464" cy="3231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5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RELEASE</a:t>
            </a:r>
          </a:p>
        </p:txBody>
      </p:sp>
      <p:sp>
        <p:nvSpPr>
          <p:cNvPr id="1048636" name="TextBox 32"/>
          <p:cNvSpPr txBox="1"/>
          <p:nvPr/>
        </p:nvSpPr>
        <p:spPr>
          <a:xfrm>
            <a:off x="10030968" y="2715768"/>
            <a:ext cx="1426464" cy="830997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6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contract pays
freelancer</a:t>
            </a:r>
          </a:p>
        </p:txBody>
      </p:sp>
      <p:sp>
        <p:nvSpPr>
          <p:cNvPr id="1048637" name="Rounded Rectangle 33"/>
          <p:cNvSpPr/>
          <p:nvPr/>
        </p:nvSpPr>
        <p:spPr>
          <a:xfrm>
            <a:off x="1920240" y="4800600"/>
            <a:ext cx="8321040" cy="868680"/>
          </a:xfrm>
          <a:prstGeom prst="roundRect"/>
          <a:solidFill>
            <a:srgbClr val="182742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8" name="TextBox 34"/>
          <p:cNvSpPr txBox="1"/>
          <p:nvPr/>
        </p:nvSpPr>
        <p:spPr>
          <a:xfrm>
            <a:off x="2148840" y="5047488"/>
            <a:ext cx="1097280" cy="26161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1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IDEA</a:t>
            </a:r>
          </a:p>
        </p:txBody>
      </p:sp>
      <p:sp>
        <p:nvSpPr>
          <p:cNvPr id="1048639" name="TextBox 35"/>
          <p:cNvSpPr txBox="1"/>
          <p:nvPr/>
        </p:nvSpPr>
        <p:spPr>
          <a:xfrm>
            <a:off x="3246120" y="4983480"/>
            <a:ext cx="6583680" cy="52322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4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smart contract enforces the agreed workflow instead of relying only on platform promises.</a:t>
            </a:r>
          </a:p>
        </p:txBody>
      </p:sp>
      <p:sp>
        <p:nvSpPr>
          <p:cNvPr id="1048640" name="TextBox 36"/>
          <p:cNvSpPr txBox="1"/>
          <p:nvPr/>
        </p:nvSpPr>
        <p:spPr>
          <a:xfrm>
            <a:off x="502920" y="6510528"/>
            <a:ext cx="8961120" cy="253916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05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 TRUST  •  Blockchain-Based Freelance Contract &amp; Payment Escrow</a:t>
            </a:r>
          </a:p>
        </p:txBody>
      </p:sp>
      <p:sp>
        <p:nvSpPr>
          <p:cNvPr id="1048641" name="TextBox 37"/>
          <p:cNvSpPr txBox="1"/>
          <p:nvPr/>
        </p:nvSpPr>
        <p:spPr>
          <a:xfrm>
            <a:off x="11384280" y="6473952"/>
            <a:ext cx="320040" cy="230832"/>
          </a:xfrm>
          <a:prstGeom prst="rect"/>
          <a:noFill/>
        </p:spPr>
        <p:txBody>
          <a:bodyPr anchor="t" wrap="square">
            <a:spAutoFit/>
          </a:bodyPr>
          <a:p>
            <a:pPr algn="r"/>
            <a:r>
              <a:rPr b="0" sz="90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extBox 1"/>
          <p:cNvSpPr txBox="1"/>
          <p:nvPr/>
        </p:nvSpPr>
        <p:spPr>
          <a:xfrm>
            <a:off x="502920" y="320040"/>
            <a:ext cx="457200" cy="276999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2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1048643" name="TextBox 2"/>
          <p:cNvSpPr txBox="1"/>
          <p:nvPr/>
        </p:nvSpPr>
        <p:spPr>
          <a:xfrm>
            <a:off x="960120" y="246888"/>
            <a:ext cx="10607040" cy="50292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dirty="0" sz="27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USP</a:t>
            </a:r>
          </a:p>
        </p:txBody>
      </p:sp>
      <p:sp>
        <p:nvSpPr>
          <p:cNvPr id="1048644" name="TextBox 3"/>
          <p:cNvSpPr txBox="1"/>
          <p:nvPr/>
        </p:nvSpPr>
        <p:spPr>
          <a:xfrm>
            <a:off x="978408" y="749808"/>
            <a:ext cx="10241280" cy="338554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60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decentralized escrow workflow designed specifically around freelance milestones.</a:t>
            </a:r>
          </a:p>
        </p:txBody>
      </p:sp>
      <p:sp>
        <p:nvSpPr>
          <p:cNvPr id="1048645" name="Rounded Rectangle 4"/>
          <p:cNvSpPr/>
          <p:nvPr/>
        </p:nvSpPr>
        <p:spPr>
          <a:xfrm>
            <a:off x="594360" y="1325880"/>
            <a:ext cx="3429000" cy="178308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46" name="TextBox 5"/>
          <p:cNvSpPr txBox="1"/>
          <p:nvPr/>
        </p:nvSpPr>
        <p:spPr>
          <a:xfrm>
            <a:off x="795528" y="1490472"/>
            <a:ext cx="3026664" cy="3231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5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Programmable Escrow</a:t>
            </a:r>
          </a:p>
        </p:txBody>
      </p:sp>
      <p:sp>
        <p:nvSpPr>
          <p:cNvPr id="1048647" name="TextBox 6"/>
          <p:cNvSpPr txBox="1"/>
          <p:nvPr/>
        </p:nvSpPr>
        <p:spPr>
          <a:xfrm>
            <a:off x="795528" y="1892807"/>
            <a:ext cx="3026664" cy="81534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6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Funds move only when predefined conditions are satisfied.</a:t>
            </a:r>
          </a:p>
        </p:txBody>
      </p:sp>
      <p:sp>
        <p:nvSpPr>
          <p:cNvPr id="1048648" name="Rounded Rectangle 7"/>
          <p:cNvSpPr/>
          <p:nvPr/>
        </p:nvSpPr>
        <p:spPr>
          <a:xfrm>
            <a:off x="4389120" y="1325880"/>
            <a:ext cx="3429000" cy="178308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49" name="TextBox 8"/>
          <p:cNvSpPr txBox="1"/>
          <p:nvPr/>
        </p:nvSpPr>
        <p:spPr>
          <a:xfrm>
            <a:off x="4590288" y="1490472"/>
            <a:ext cx="3026664" cy="3231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500">
                <a:solidFill>
                  <a:srgbClr val="8F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Milestone-Based Contracts</a:t>
            </a:r>
          </a:p>
        </p:txBody>
      </p:sp>
      <p:sp>
        <p:nvSpPr>
          <p:cNvPr id="1048650" name="TextBox 9"/>
          <p:cNvSpPr txBox="1"/>
          <p:nvPr/>
        </p:nvSpPr>
        <p:spPr>
          <a:xfrm>
            <a:off x="4590288" y="1892807"/>
            <a:ext cx="3026664" cy="81534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6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milestone stores amount, deadline and acceptance criteria.</a:t>
            </a:r>
          </a:p>
        </p:txBody>
      </p:sp>
      <p:sp>
        <p:nvSpPr>
          <p:cNvPr id="1048651" name="Rounded Rectangle 10"/>
          <p:cNvSpPr/>
          <p:nvPr/>
        </p:nvSpPr>
        <p:spPr>
          <a:xfrm>
            <a:off x="8183880" y="1325880"/>
            <a:ext cx="3429000" cy="178308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52" name="TextBox 11"/>
          <p:cNvSpPr txBox="1"/>
          <p:nvPr/>
        </p:nvSpPr>
        <p:spPr>
          <a:xfrm>
            <a:off x="8385048" y="1490472"/>
            <a:ext cx="3026664" cy="3231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500">
                <a:solidFill>
                  <a:srgbClr val="FFB0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 of Delivery</a:t>
            </a:r>
          </a:p>
        </p:txBody>
      </p:sp>
      <p:sp>
        <p:nvSpPr>
          <p:cNvPr id="1048653" name="TextBox 12"/>
          <p:cNvSpPr txBox="1"/>
          <p:nvPr/>
        </p:nvSpPr>
        <p:spPr>
          <a:xfrm>
            <a:off x="8385048" y="1892807"/>
            <a:ext cx="3026664" cy="81534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6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hashes / evidence references make submitted work verifiable.</a:t>
            </a:r>
          </a:p>
        </p:txBody>
      </p:sp>
      <p:sp>
        <p:nvSpPr>
          <p:cNvPr id="1048654" name="Rounded Rectangle 13"/>
          <p:cNvSpPr/>
          <p:nvPr/>
        </p:nvSpPr>
        <p:spPr>
          <a:xfrm>
            <a:off x="594360" y="3474720"/>
            <a:ext cx="3429000" cy="178308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55" name="TextBox 14"/>
          <p:cNvSpPr txBox="1"/>
          <p:nvPr/>
        </p:nvSpPr>
        <p:spPr>
          <a:xfrm>
            <a:off x="795528" y="3639312"/>
            <a:ext cx="3026664" cy="3231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500">
                <a:solidFill>
                  <a:srgbClr val="43E2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Transparent Disputes</a:t>
            </a:r>
          </a:p>
        </p:txBody>
      </p:sp>
      <p:sp>
        <p:nvSpPr>
          <p:cNvPr id="1048656" name="TextBox 15"/>
          <p:cNvSpPr txBox="1"/>
          <p:nvPr/>
        </p:nvSpPr>
        <p:spPr>
          <a:xfrm>
            <a:off x="795528" y="4041648"/>
            <a:ext cx="3026664" cy="830997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6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Dispute events and decisions are recorded with auditable timestamps.</a:t>
            </a:r>
          </a:p>
        </p:txBody>
      </p:sp>
      <p:sp>
        <p:nvSpPr>
          <p:cNvPr id="1048657" name="Rounded Rectangle 16"/>
          <p:cNvSpPr/>
          <p:nvPr/>
        </p:nvSpPr>
        <p:spPr>
          <a:xfrm>
            <a:off x="4389120" y="3474720"/>
            <a:ext cx="3429000" cy="178308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58" name="TextBox 17"/>
          <p:cNvSpPr txBox="1"/>
          <p:nvPr/>
        </p:nvSpPr>
        <p:spPr>
          <a:xfrm>
            <a:off x="4590288" y="3639312"/>
            <a:ext cx="3026664" cy="3231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5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 Counterparty Risk</a:t>
            </a:r>
          </a:p>
        </p:txBody>
      </p:sp>
      <p:sp>
        <p:nvSpPr>
          <p:cNvPr id="1048659" name="TextBox 18"/>
          <p:cNvSpPr txBox="1"/>
          <p:nvPr/>
        </p:nvSpPr>
        <p:spPr>
          <a:xfrm>
            <a:off x="4590288" y="4041648"/>
            <a:ext cx="3026664" cy="815339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6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Neither party needs to fully trust the other before starting work.</a:t>
            </a:r>
          </a:p>
        </p:txBody>
      </p:sp>
      <p:sp>
        <p:nvSpPr>
          <p:cNvPr id="1048660" name="Rounded Rectangle 19"/>
          <p:cNvSpPr/>
          <p:nvPr/>
        </p:nvSpPr>
        <p:spPr>
          <a:xfrm>
            <a:off x="8183880" y="3474720"/>
            <a:ext cx="3429000" cy="178308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61" name="TextBox 20"/>
          <p:cNvSpPr txBox="1"/>
          <p:nvPr/>
        </p:nvSpPr>
        <p:spPr>
          <a:xfrm>
            <a:off x="8385048" y="3639312"/>
            <a:ext cx="3026664" cy="3231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500">
                <a:solidFill>
                  <a:srgbClr val="8F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Platform-Agnostic Layer</a:t>
            </a:r>
          </a:p>
        </p:txBody>
      </p:sp>
      <p:sp>
        <p:nvSpPr>
          <p:cNvPr id="1048662" name="TextBox 21"/>
          <p:cNvSpPr txBox="1"/>
          <p:nvPr/>
        </p:nvSpPr>
        <p:spPr>
          <a:xfrm>
            <a:off x="8385048" y="4041648"/>
            <a:ext cx="3026664" cy="830997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6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integrated with web/mobile freelance marketplaces.</a:t>
            </a:r>
          </a:p>
        </p:txBody>
      </p:sp>
      <p:sp>
        <p:nvSpPr>
          <p:cNvPr id="1048663" name="TextBox 22"/>
          <p:cNvSpPr txBox="1"/>
          <p:nvPr/>
        </p:nvSpPr>
        <p:spPr>
          <a:xfrm>
            <a:off x="640080" y="5774908"/>
            <a:ext cx="548640" cy="246221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0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USP</a:t>
            </a:r>
          </a:p>
        </p:txBody>
      </p:sp>
      <p:sp>
        <p:nvSpPr>
          <p:cNvPr id="1048664" name="TextBox 23"/>
          <p:cNvSpPr txBox="1"/>
          <p:nvPr/>
        </p:nvSpPr>
        <p:spPr>
          <a:xfrm>
            <a:off x="1234440" y="5742432"/>
            <a:ext cx="9784080" cy="32004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4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Contract + evidence + escrow + dispute trail in one tamper-evident workflow.</a:t>
            </a:r>
          </a:p>
        </p:txBody>
      </p:sp>
      <p:sp>
        <p:nvSpPr>
          <p:cNvPr id="1048665" name="TextBox 24"/>
          <p:cNvSpPr txBox="1"/>
          <p:nvPr/>
        </p:nvSpPr>
        <p:spPr>
          <a:xfrm>
            <a:off x="502920" y="6510528"/>
            <a:ext cx="8961120" cy="253916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05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 TRUST  •  Blockchain-Based Freelance Contract &amp; Payment Escrow</a:t>
            </a:r>
          </a:p>
        </p:txBody>
      </p:sp>
      <p:sp>
        <p:nvSpPr>
          <p:cNvPr id="1048666" name="TextBox 25"/>
          <p:cNvSpPr txBox="1"/>
          <p:nvPr/>
        </p:nvSpPr>
        <p:spPr>
          <a:xfrm>
            <a:off x="11384280" y="6473952"/>
            <a:ext cx="320040" cy="230832"/>
          </a:xfrm>
          <a:prstGeom prst="rect"/>
          <a:noFill/>
        </p:spPr>
        <p:txBody>
          <a:bodyPr anchor="t" wrap="square">
            <a:spAutoFit/>
          </a:bodyPr>
          <a:p>
            <a:pPr algn="r"/>
            <a:r>
              <a:rPr b="0" sz="90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extBox 1"/>
          <p:cNvSpPr txBox="1"/>
          <p:nvPr/>
        </p:nvSpPr>
        <p:spPr>
          <a:xfrm>
            <a:off x="502920" y="320040"/>
            <a:ext cx="457200" cy="276999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2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1048668" name="TextBox 2"/>
          <p:cNvSpPr txBox="1"/>
          <p:nvPr/>
        </p:nvSpPr>
        <p:spPr>
          <a:xfrm>
            <a:off x="960120" y="246888"/>
            <a:ext cx="10607040" cy="50292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dirty="0" sz="27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1048669" name="TextBox 3"/>
          <p:cNvSpPr txBox="1"/>
          <p:nvPr/>
        </p:nvSpPr>
        <p:spPr>
          <a:xfrm>
            <a:off x="978408" y="749808"/>
            <a:ext cx="10241280" cy="338554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60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architecture: keep sensitive files off-chain while anchoring proofs and contract state on-chain.</a:t>
            </a:r>
          </a:p>
        </p:txBody>
      </p:sp>
      <p:sp>
        <p:nvSpPr>
          <p:cNvPr id="1048670" name="Rounded Rectangle 4"/>
          <p:cNvSpPr/>
          <p:nvPr/>
        </p:nvSpPr>
        <p:spPr>
          <a:xfrm>
            <a:off x="960120" y="1170432"/>
            <a:ext cx="7680960" cy="658368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71" name="TextBox 5"/>
          <p:cNvSpPr txBox="1"/>
          <p:nvPr/>
        </p:nvSpPr>
        <p:spPr>
          <a:xfrm>
            <a:off x="1188720" y="1335024"/>
            <a:ext cx="1828800" cy="276999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2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LAYER</a:t>
            </a:r>
          </a:p>
        </p:txBody>
      </p:sp>
      <p:sp>
        <p:nvSpPr>
          <p:cNvPr id="1048672" name="TextBox 6"/>
          <p:cNvSpPr txBox="1"/>
          <p:nvPr/>
        </p:nvSpPr>
        <p:spPr>
          <a:xfrm>
            <a:off x="2971800" y="1325880"/>
            <a:ext cx="5303520" cy="307777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4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 • Freelancer • Admin / Arbitrator</a:t>
            </a:r>
          </a:p>
        </p:txBody>
      </p:sp>
      <p:sp>
        <p:nvSpPr>
          <p:cNvPr id="1048673" name="Rounded Rectangle 7"/>
          <p:cNvSpPr/>
          <p:nvPr/>
        </p:nvSpPr>
        <p:spPr>
          <a:xfrm>
            <a:off x="960120" y="2066543"/>
            <a:ext cx="7680960" cy="658368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74" name="TextBox 8"/>
          <p:cNvSpPr txBox="1"/>
          <p:nvPr/>
        </p:nvSpPr>
        <p:spPr>
          <a:xfrm>
            <a:off x="1188720" y="2231136"/>
            <a:ext cx="1828800" cy="276999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200">
                <a:solidFill>
                  <a:srgbClr val="8F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</a:t>
            </a:r>
          </a:p>
        </p:txBody>
      </p:sp>
      <p:sp>
        <p:nvSpPr>
          <p:cNvPr id="1048675" name="TextBox 9"/>
          <p:cNvSpPr txBox="1"/>
          <p:nvPr/>
        </p:nvSpPr>
        <p:spPr>
          <a:xfrm>
            <a:off x="2971800" y="2221991"/>
            <a:ext cx="5303520" cy="307777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4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/ Mobile UI • Wallet • Notifications • Dashboard</a:t>
            </a:r>
          </a:p>
        </p:txBody>
      </p:sp>
      <p:sp>
        <p:nvSpPr>
          <p:cNvPr id="1048676" name="Rounded Rectangle 10"/>
          <p:cNvSpPr/>
          <p:nvPr/>
        </p:nvSpPr>
        <p:spPr>
          <a:xfrm>
            <a:off x="960120" y="2962656"/>
            <a:ext cx="7680960" cy="658368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77" name="TextBox 11"/>
          <p:cNvSpPr txBox="1"/>
          <p:nvPr/>
        </p:nvSpPr>
        <p:spPr>
          <a:xfrm>
            <a:off x="1188720" y="3127248"/>
            <a:ext cx="1828800" cy="4616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200">
                <a:solidFill>
                  <a:srgbClr val="43E2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CONTRACT LAYER</a:t>
            </a:r>
          </a:p>
        </p:txBody>
      </p:sp>
      <p:sp>
        <p:nvSpPr>
          <p:cNvPr id="1048678" name="TextBox 12"/>
          <p:cNvSpPr txBox="1"/>
          <p:nvPr/>
        </p:nvSpPr>
        <p:spPr>
          <a:xfrm>
            <a:off x="2971800" y="3118104"/>
            <a:ext cx="5303520" cy="307777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4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Contract creation • Escrow • Milestones • Release • Dispute</a:t>
            </a:r>
          </a:p>
        </p:txBody>
      </p:sp>
      <p:sp>
        <p:nvSpPr>
          <p:cNvPr id="1048679" name="Rounded Rectangle 13"/>
          <p:cNvSpPr/>
          <p:nvPr/>
        </p:nvSpPr>
        <p:spPr>
          <a:xfrm>
            <a:off x="960120" y="3858768"/>
            <a:ext cx="7680960" cy="658368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80" name="TextBox 14"/>
          <p:cNvSpPr txBox="1"/>
          <p:nvPr/>
        </p:nvSpPr>
        <p:spPr>
          <a:xfrm>
            <a:off x="1188720" y="4023359"/>
            <a:ext cx="1828800" cy="276999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200">
                <a:solidFill>
                  <a:srgbClr val="FFB0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BLOCKCHAIN LAYER</a:t>
            </a:r>
          </a:p>
        </p:txBody>
      </p:sp>
      <p:sp>
        <p:nvSpPr>
          <p:cNvPr id="1048681" name="TextBox 15"/>
          <p:cNvSpPr txBox="1"/>
          <p:nvPr/>
        </p:nvSpPr>
        <p:spPr>
          <a:xfrm>
            <a:off x="2971800" y="4014215"/>
            <a:ext cx="5303520" cy="307777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4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Transactions • Events • Hashes • Ownership / audit trail</a:t>
            </a:r>
          </a:p>
        </p:txBody>
      </p:sp>
      <p:sp>
        <p:nvSpPr>
          <p:cNvPr id="1048682" name="Rounded Rectangle 16"/>
          <p:cNvSpPr/>
          <p:nvPr/>
        </p:nvSpPr>
        <p:spPr>
          <a:xfrm>
            <a:off x="960120" y="4754880"/>
            <a:ext cx="7680960" cy="658368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83" name="TextBox 17"/>
          <p:cNvSpPr txBox="1"/>
          <p:nvPr/>
        </p:nvSpPr>
        <p:spPr>
          <a:xfrm>
            <a:off x="1188720" y="4919472"/>
            <a:ext cx="1828800" cy="276999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20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OFF-CHAIN STORAGE</a:t>
            </a:r>
          </a:p>
        </p:txBody>
      </p:sp>
      <p:sp>
        <p:nvSpPr>
          <p:cNvPr id="1048684" name="TextBox 18"/>
          <p:cNvSpPr txBox="1"/>
          <p:nvPr/>
        </p:nvSpPr>
        <p:spPr>
          <a:xfrm>
            <a:off x="2971800" y="4910328"/>
            <a:ext cx="5303520" cy="307777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4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Encrypted files • Documents • Delivery artifacts</a:t>
            </a:r>
          </a:p>
        </p:txBody>
      </p:sp>
      <p:sp>
        <p:nvSpPr>
          <p:cNvPr id="1048685" name="Rounded Rectangle 19"/>
          <p:cNvSpPr/>
          <p:nvPr/>
        </p:nvSpPr>
        <p:spPr>
          <a:xfrm>
            <a:off x="9098280" y="1170432"/>
            <a:ext cx="2331720" cy="3685033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86" name="TextBox 20"/>
          <p:cNvSpPr txBox="1"/>
          <p:nvPr/>
        </p:nvSpPr>
        <p:spPr>
          <a:xfrm>
            <a:off x="9372600" y="1444752"/>
            <a:ext cx="1737360" cy="3231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5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ON-CHAIN</a:t>
            </a:r>
          </a:p>
        </p:txBody>
      </p:sp>
      <p:sp>
        <p:nvSpPr>
          <p:cNvPr id="1048687" name="TextBox 21"/>
          <p:cNvSpPr txBox="1"/>
          <p:nvPr/>
        </p:nvSpPr>
        <p:spPr>
          <a:xfrm>
            <a:off x="9308592" y="1858753"/>
            <a:ext cx="1874519" cy="142603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50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rPr dirty="0"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Contract state</a:t>
            </a:r>
          </a:p>
          <a:p>
            <a:pPr>
              <a:spcAft>
                <a:spcPts val="50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rPr dirty="0"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Milestone status</a:t>
            </a:r>
          </a:p>
          <a:p>
            <a:pPr>
              <a:spcAft>
                <a:spcPts val="50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rPr dirty="0"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Payment events</a:t>
            </a:r>
          </a:p>
          <a:p>
            <a:pPr>
              <a:spcAft>
                <a:spcPts val="50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rPr dirty="0"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File hashes</a:t>
            </a:r>
          </a:p>
          <a:p>
            <a:pPr>
              <a:spcAft>
                <a:spcPts val="50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rPr dirty="0"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Dispute records</a:t>
            </a:r>
          </a:p>
        </p:txBody>
      </p:sp>
      <p:sp>
        <p:nvSpPr>
          <p:cNvPr id="1048688" name="TextBox 22"/>
          <p:cNvSpPr txBox="1"/>
          <p:nvPr/>
        </p:nvSpPr>
        <p:spPr>
          <a:xfrm>
            <a:off x="9372600" y="3413234"/>
            <a:ext cx="1737360" cy="3231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dirty="0" sz="1500">
                <a:solidFill>
                  <a:srgbClr val="FFB0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OFF-CHAIN</a:t>
            </a:r>
          </a:p>
        </p:txBody>
      </p:sp>
      <p:sp>
        <p:nvSpPr>
          <p:cNvPr id="1048689" name="TextBox 23"/>
          <p:cNvSpPr txBox="1"/>
          <p:nvPr/>
        </p:nvSpPr>
        <p:spPr>
          <a:xfrm>
            <a:off x="9308592" y="3785296"/>
            <a:ext cx="1874519" cy="866904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50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rPr dirty="0"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Large files</a:t>
            </a:r>
          </a:p>
          <a:p>
            <a:pPr>
              <a:spcAft>
                <a:spcPts val="50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rPr dirty="0"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Private metadata</a:t>
            </a:r>
          </a:p>
          <a:p>
            <a:pPr>
              <a:spcAft>
                <a:spcPts val="500"/>
              </a:spcAft>
              <a:defRPr sz="1150">
                <a:solidFill>
                  <a:srgbClr val="F5F8FC"/>
                </a:solidFill>
                <a:latin typeface="Aptos"/>
              </a:defRPr>
            </a:pPr>
            <a:r>
              <a:rPr dirty="0"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Encrypted artifacts</a:t>
            </a:r>
          </a:p>
        </p:txBody>
      </p:sp>
      <p:sp>
        <p:nvSpPr>
          <p:cNvPr id="1048690" name="TextBox 24"/>
          <p:cNvSpPr txBox="1"/>
          <p:nvPr/>
        </p:nvSpPr>
        <p:spPr>
          <a:xfrm>
            <a:off x="502920" y="6510528"/>
            <a:ext cx="8961120" cy="253916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05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 TRUST  •  Blockchain-Based Freelance Contract &amp; Payment Escrow</a:t>
            </a:r>
          </a:p>
        </p:txBody>
      </p:sp>
      <p:sp>
        <p:nvSpPr>
          <p:cNvPr id="1048691" name="TextBox 25"/>
          <p:cNvSpPr txBox="1"/>
          <p:nvPr/>
        </p:nvSpPr>
        <p:spPr>
          <a:xfrm>
            <a:off x="11384280" y="6473952"/>
            <a:ext cx="320040" cy="230832"/>
          </a:xfrm>
          <a:prstGeom prst="rect"/>
          <a:noFill/>
        </p:spPr>
        <p:txBody>
          <a:bodyPr anchor="t" wrap="square">
            <a:spAutoFit/>
          </a:bodyPr>
          <a:p>
            <a:pPr algn="r"/>
            <a:r>
              <a:rPr b="0" sz="90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</p:cSld>
  <p:clrMapOvr>
    <a:masterClrMapping/>
  </p:clrMapOvr>
  <p:transition spd="slow">
    <p:wheel spokes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TextBox 1"/>
          <p:cNvSpPr txBox="1"/>
          <p:nvPr/>
        </p:nvSpPr>
        <p:spPr>
          <a:xfrm>
            <a:off x="502920" y="320040"/>
            <a:ext cx="457200" cy="276999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2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</p:txBody>
      </p:sp>
      <p:sp>
        <p:nvSpPr>
          <p:cNvPr id="1048693" name="TextBox 2"/>
          <p:cNvSpPr txBox="1"/>
          <p:nvPr/>
        </p:nvSpPr>
        <p:spPr>
          <a:xfrm>
            <a:off x="960120" y="246888"/>
            <a:ext cx="10607040" cy="50292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dirty="0" sz="27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Workflow</a:t>
            </a:r>
          </a:p>
        </p:txBody>
      </p:sp>
      <p:sp>
        <p:nvSpPr>
          <p:cNvPr id="1048694" name="TextBox 3"/>
          <p:cNvSpPr txBox="1"/>
          <p:nvPr/>
        </p:nvSpPr>
        <p:spPr>
          <a:xfrm>
            <a:off x="978408" y="749808"/>
            <a:ext cx="10241280" cy="338554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60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contract becomes the single source of truth for milestones, evidence and payments.</a:t>
            </a:r>
          </a:p>
        </p:txBody>
      </p:sp>
      <p:sp>
        <p:nvSpPr>
          <p:cNvPr id="1048695" name="Oval 4"/>
          <p:cNvSpPr/>
          <p:nvPr/>
        </p:nvSpPr>
        <p:spPr>
          <a:xfrm>
            <a:off x="685800" y="1176110"/>
            <a:ext cx="621792" cy="621792"/>
          </a:xfrm>
          <a:prstGeom prst="ellipse"/>
          <a:solidFill>
            <a:srgbClr val="35D3FF"/>
          </a:solidFill>
          <a:ln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96" name="TextBox 5"/>
          <p:cNvSpPr txBox="1"/>
          <p:nvPr/>
        </p:nvSpPr>
        <p:spPr>
          <a:xfrm>
            <a:off x="411480" y="1873576"/>
            <a:ext cx="1188720" cy="276999"/>
          </a:xfrm>
          <a:prstGeom prst="rect"/>
          <a:noFill/>
        </p:spPr>
        <p:txBody>
          <a:bodyPr anchor="t" wrap="square">
            <a:spAutoFit/>
          </a:bodyPr>
          <a:p>
            <a:pPr algn="ctr"/>
            <a:r>
              <a:rPr b="1" dirty="0" sz="12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</a:p>
        </p:txBody>
      </p:sp>
      <p:sp>
        <p:nvSpPr>
          <p:cNvPr id="1048697" name="Oval 6"/>
          <p:cNvSpPr/>
          <p:nvPr/>
        </p:nvSpPr>
        <p:spPr>
          <a:xfrm>
            <a:off x="4800600" y="1160344"/>
            <a:ext cx="621792" cy="621792"/>
          </a:xfrm>
          <a:prstGeom prst="ellipse"/>
          <a:solidFill>
            <a:srgbClr val="43E29D"/>
          </a:solidFill>
          <a:ln>
            <a:solidFill>
              <a:srgbClr val="43E2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98" name="TextBox 7"/>
          <p:cNvSpPr txBox="1"/>
          <p:nvPr/>
        </p:nvSpPr>
        <p:spPr>
          <a:xfrm>
            <a:off x="4526280" y="1810512"/>
            <a:ext cx="1188720" cy="461665"/>
          </a:xfrm>
          <a:prstGeom prst="rect"/>
          <a:noFill/>
        </p:spPr>
        <p:txBody>
          <a:bodyPr anchor="t" wrap="square">
            <a:spAutoFit/>
          </a:bodyPr>
          <a:p>
            <a:pPr algn="ctr"/>
            <a:r>
              <a:rPr b="1" sz="12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
CONTRACT</a:t>
            </a:r>
          </a:p>
        </p:txBody>
      </p:sp>
      <p:sp>
        <p:nvSpPr>
          <p:cNvPr id="1048699" name="Oval 8"/>
          <p:cNvSpPr/>
          <p:nvPr/>
        </p:nvSpPr>
        <p:spPr>
          <a:xfrm>
            <a:off x="9144000" y="1128812"/>
            <a:ext cx="621792" cy="621792"/>
          </a:xfrm>
          <a:prstGeom prst="ellipse"/>
          <a:solidFill>
            <a:srgbClr val="FFB048"/>
          </a:solidFill>
          <a:ln>
            <a:solidFill>
              <a:srgbClr val="FFB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00" name="TextBox 9"/>
          <p:cNvSpPr txBox="1"/>
          <p:nvPr/>
        </p:nvSpPr>
        <p:spPr>
          <a:xfrm>
            <a:off x="8869679" y="1857810"/>
            <a:ext cx="1346375" cy="276999"/>
          </a:xfrm>
          <a:prstGeom prst="rect"/>
          <a:noFill/>
        </p:spPr>
        <p:txBody>
          <a:bodyPr anchor="t" wrap="square">
            <a:spAutoFit/>
          </a:bodyPr>
          <a:p>
            <a:pPr algn="ctr"/>
            <a:r>
              <a:rPr b="1" dirty="0" sz="12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FREELANCER</a:t>
            </a:r>
          </a:p>
        </p:txBody>
      </p:sp>
      <p:sp>
        <p:nvSpPr>
          <p:cNvPr id="1048701" name="Rounded Rectangle 10"/>
          <p:cNvSpPr/>
          <p:nvPr/>
        </p:nvSpPr>
        <p:spPr>
          <a:xfrm>
            <a:off x="594360" y="2560320"/>
            <a:ext cx="1828800" cy="96012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02" name="TextBox 11"/>
          <p:cNvSpPr txBox="1"/>
          <p:nvPr/>
        </p:nvSpPr>
        <p:spPr>
          <a:xfrm>
            <a:off x="704088" y="2715768"/>
            <a:ext cx="1609344" cy="307777"/>
          </a:xfrm>
          <a:prstGeom prst="rect"/>
          <a:noFill/>
        </p:spPr>
        <p:txBody>
          <a:bodyPr anchor="t" wrap="square">
            <a:spAutoFit/>
          </a:bodyPr>
          <a:p>
            <a:pPr algn="ctr"/>
            <a:r>
              <a:rPr b="1" dirty="0" sz="14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 Job</a:t>
            </a:r>
          </a:p>
        </p:txBody>
      </p:sp>
      <p:sp>
        <p:nvSpPr>
          <p:cNvPr id="1048703" name="TextBox 12"/>
          <p:cNvSpPr txBox="1"/>
          <p:nvPr/>
        </p:nvSpPr>
        <p:spPr>
          <a:xfrm>
            <a:off x="704088" y="3054096"/>
            <a:ext cx="1609344" cy="307777"/>
          </a:xfrm>
          <a:prstGeom prst="rect"/>
          <a:noFill/>
        </p:spPr>
        <p:txBody>
          <a:bodyPr anchor="t" wrap="square">
            <a:spAutoFit/>
          </a:bodyPr>
          <a:p>
            <a:pPr algn="ctr"/>
            <a:r>
              <a:rPr b="0" dirty="0" sz="140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 + milestones</a:t>
            </a:r>
          </a:p>
        </p:txBody>
      </p:sp>
      <p:sp>
        <p:nvSpPr>
          <p:cNvPr id="1048704" name="Rounded Rectangle 13"/>
          <p:cNvSpPr/>
          <p:nvPr/>
        </p:nvSpPr>
        <p:spPr>
          <a:xfrm>
            <a:off x="2743200" y="2560320"/>
            <a:ext cx="1828800" cy="96012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05" name="TextBox 14"/>
          <p:cNvSpPr txBox="1"/>
          <p:nvPr/>
        </p:nvSpPr>
        <p:spPr>
          <a:xfrm>
            <a:off x="2852928" y="2715768"/>
            <a:ext cx="1609344" cy="307777"/>
          </a:xfrm>
          <a:prstGeom prst="rect"/>
          <a:noFill/>
        </p:spPr>
        <p:txBody>
          <a:bodyPr anchor="t" wrap="square">
            <a:spAutoFit/>
          </a:bodyPr>
          <a:p>
            <a:pPr algn="ctr"/>
            <a:r>
              <a:rPr b="1" dirty="0" sz="1400">
                <a:solidFill>
                  <a:srgbClr val="78F8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Accept Contract</a:t>
            </a:r>
          </a:p>
        </p:txBody>
      </p:sp>
      <p:sp>
        <p:nvSpPr>
          <p:cNvPr id="1048706" name="TextBox 15"/>
          <p:cNvSpPr txBox="1"/>
          <p:nvPr/>
        </p:nvSpPr>
        <p:spPr>
          <a:xfrm>
            <a:off x="2852928" y="3054096"/>
            <a:ext cx="1609344" cy="307777"/>
          </a:xfrm>
          <a:prstGeom prst="rect"/>
          <a:noFill/>
        </p:spPr>
        <p:txBody>
          <a:bodyPr anchor="t" wrap="square">
            <a:spAutoFit/>
          </a:bodyPr>
          <a:p>
            <a:pPr algn="ctr"/>
            <a:r>
              <a:rPr b="0" dirty="0" sz="140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Terms locked</a:t>
            </a:r>
          </a:p>
        </p:txBody>
      </p:sp>
      <p:sp>
        <p:nvSpPr>
          <p:cNvPr id="1048707" name="Rounded Rectangle 16"/>
          <p:cNvSpPr/>
          <p:nvPr/>
        </p:nvSpPr>
        <p:spPr>
          <a:xfrm>
            <a:off x="4892040" y="2560320"/>
            <a:ext cx="1828800" cy="96012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08" name="TextBox 17"/>
          <p:cNvSpPr txBox="1"/>
          <p:nvPr/>
        </p:nvSpPr>
        <p:spPr>
          <a:xfrm>
            <a:off x="5001768" y="2715768"/>
            <a:ext cx="1609344" cy="307777"/>
          </a:xfrm>
          <a:prstGeom prst="rect"/>
          <a:noFill/>
        </p:spPr>
        <p:txBody>
          <a:bodyPr anchor="t" wrap="square">
            <a:spAutoFit/>
          </a:bodyPr>
          <a:p>
            <a:pPr algn="ctr"/>
            <a:r>
              <a:rPr b="1" dirty="0" sz="1400">
                <a:solidFill>
                  <a:srgbClr val="43E2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 Escrow</a:t>
            </a:r>
          </a:p>
        </p:txBody>
      </p:sp>
      <p:sp>
        <p:nvSpPr>
          <p:cNvPr id="1048709" name="TextBox 18"/>
          <p:cNvSpPr txBox="1"/>
          <p:nvPr/>
        </p:nvSpPr>
        <p:spPr>
          <a:xfrm>
            <a:off x="5001768" y="3054096"/>
            <a:ext cx="1609344" cy="307777"/>
          </a:xfrm>
          <a:prstGeom prst="rect"/>
          <a:noFill/>
        </p:spPr>
        <p:txBody>
          <a:bodyPr anchor="t" wrap="square">
            <a:spAutoFit/>
          </a:bodyPr>
          <a:p>
            <a:pPr algn="ctr"/>
            <a:r>
              <a:rPr b="0" dirty="0" sz="140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Amount locked</a:t>
            </a:r>
          </a:p>
        </p:txBody>
      </p:sp>
      <p:sp>
        <p:nvSpPr>
          <p:cNvPr id="1048710" name="Rounded Rectangle 19"/>
          <p:cNvSpPr/>
          <p:nvPr/>
        </p:nvSpPr>
        <p:spPr>
          <a:xfrm>
            <a:off x="7040880" y="2560320"/>
            <a:ext cx="1828800" cy="96012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11" name="TextBox 20"/>
          <p:cNvSpPr txBox="1"/>
          <p:nvPr/>
        </p:nvSpPr>
        <p:spPr>
          <a:xfrm>
            <a:off x="7150608" y="2715768"/>
            <a:ext cx="1609344" cy="307777"/>
          </a:xfrm>
          <a:prstGeom prst="rect"/>
          <a:noFill/>
        </p:spPr>
        <p:txBody>
          <a:bodyPr anchor="t" wrap="square">
            <a:spAutoFit/>
          </a:bodyPr>
          <a:p>
            <a:pPr algn="ctr"/>
            <a:r>
              <a:rPr b="1" dirty="0" sz="1400">
                <a:solidFill>
                  <a:srgbClr val="FFB0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 Delivery</a:t>
            </a:r>
          </a:p>
        </p:txBody>
      </p:sp>
      <p:sp>
        <p:nvSpPr>
          <p:cNvPr id="1048712" name="TextBox 21"/>
          <p:cNvSpPr txBox="1"/>
          <p:nvPr/>
        </p:nvSpPr>
        <p:spPr>
          <a:xfrm>
            <a:off x="7150608" y="3054096"/>
            <a:ext cx="1609344" cy="307777"/>
          </a:xfrm>
          <a:prstGeom prst="rect"/>
          <a:noFill/>
        </p:spPr>
        <p:txBody>
          <a:bodyPr anchor="t" wrap="square">
            <a:spAutoFit/>
          </a:bodyPr>
          <a:p>
            <a:pPr algn="ctr"/>
            <a:r>
              <a:rPr b="0" dirty="0" sz="140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Hash + evidence</a:t>
            </a:r>
          </a:p>
        </p:txBody>
      </p:sp>
      <p:sp>
        <p:nvSpPr>
          <p:cNvPr id="1048713" name="Rounded Rectangle 22"/>
          <p:cNvSpPr/>
          <p:nvPr/>
        </p:nvSpPr>
        <p:spPr>
          <a:xfrm>
            <a:off x="9189720" y="2560320"/>
            <a:ext cx="1828800" cy="96012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14" name="TextBox 23"/>
          <p:cNvSpPr txBox="1"/>
          <p:nvPr/>
        </p:nvSpPr>
        <p:spPr>
          <a:xfrm>
            <a:off x="9299448" y="2715768"/>
            <a:ext cx="1609344" cy="307777"/>
          </a:xfrm>
          <a:prstGeom prst="rect"/>
          <a:noFill/>
        </p:spPr>
        <p:txBody>
          <a:bodyPr anchor="t" wrap="square">
            <a:spAutoFit/>
          </a:bodyPr>
          <a:p>
            <a:pPr algn="ctr"/>
            <a:r>
              <a:rPr b="1" dirty="0" sz="1400">
                <a:solidFill>
                  <a:srgbClr val="FF65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Approve / Dispute</a:t>
            </a:r>
          </a:p>
        </p:txBody>
      </p:sp>
      <p:sp>
        <p:nvSpPr>
          <p:cNvPr id="1048715" name="TextBox 24"/>
          <p:cNvSpPr txBox="1"/>
          <p:nvPr/>
        </p:nvSpPr>
        <p:spPr>
          <a:xfrm>
            <a:off x="9299448" y="3054096"/>
            <a:ext cx="1609344" cy="307777"/>
          </a:xfrm>
          <a:prstGeom prst="rect"/>
          <a:noFill/>
        </p:spPr>
        <p:txBody>
          <a:bodyPr anchor="t" wrap="square">
            <a:spAutoFit/>
          </a:bodyPr>
          <a:p>
            <a:pPr algn="ctr"/>
            <a:r>
              <a:rPr b="0" dirty="0" sz="140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</a:p>
        </p:txBody>
      </p:sp>
      <p:cxnSp>
        <p:nvCxnSpPr>
          <p:cNvPr id="3145732" name="Connector 25"/>
          <p:cNvCxnSpPr>
            <a:cxnSpLocks/>
          </p:cNvCxnSpPr>
          <p:nvPr/>
        </p:nvCxnSpPr>
        <p:spPr>
          <a:xfrm>
            <a:off x="2423160" y="3044952"/>
            <a:ext cx="320040" cy="0"/>
          </a:xfrm>
          <a:prstGeom prst="line"/>
          <a:ln w="16510">
            <a:solidFill>
              <a:srgbClr val="B0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3" name="Connector 26"/>
          <p:cNvCxnSpPr>
            <a:cxnSpLocks/>
          </p:cNvCxnSpPr>
          <p:nvPr/>
        </p:nvCxnSpPr>
        <p:spPr>
          <a:xfrm>
            <a:off x="4572000" y="3044952"/>
            <a:ext cx="320040" cy="0"/>
          </a:xfrm>
          <a:prstGeom prst="line"/>
          <a:ln w="16510">
            <a:solidFill>
              <a:srgbClr val="B0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4" name="Connector 27"/>
          <p:cNvCxnSpPr>
            <a:cxnSpLocks/>
          </p:cNvCxnSpPr>
          <p:nvPr/>
        </p:nvCxnSpPr>
        <p:spPr>
          <a:xfrm>
            <a:off x="6720840" y="3044952"/>
            <a:ext cx="320040" cy="0"/>
          </a:xfrm>
          <a:prstGeom prst="line"/>
          <a:ln w="16510">
            <a:solidFill>
              <a:srgbClr val="B0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5735" name="Connector 28"/>
          <p:cNvCxnSpPr>
            <a:cxnSpLocks/>
          </p:cNvCxnSpPr>
          <p:nvPr/>
        </p:nvCxnSpPr>
        <p:spPr>
          <a:xfrm>
            <a:off x="8869680" y="3044952"/>
            <a:ext cx="320040" cy="0"/>
          </a:xfrm>
          <a:prstGeom prst="line"/>
          <a:ln w="16510">
            <a:solidFill>
              <a:srgbClr val="B0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716" name="Rounded Rectangle 29"/>
          <p:cNvSpPr/>
          <p:nvPr/>
        </p:nvSpPr>
        <p:spPr>
          <a:xfrm>
            <a:off x="2971800" y="4251960"/>
            <a:ext cx="6263640" cy="960120"/>
          </a:xfrm>
          <a:prstGeom prst="roundRect"/>
          <a:solidFill>
            <a:srgbClr val="182742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17" name="TextBox 30"/>
          <p:cNvSpPr txBox="1"/>
          <p:nvPr/>
        </p:nvSpPr>
        <p:spPr>
          <a:xfrm>
            <a:off x="3246120" y="4480560"/>
            <a:ext cx="2286000" cy="276999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200">
                <a:solidFill>
                  <a:srgbClr val="43E2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AUTO-RELEASE / REFUND</a:t>
            </a:r>
          </a:p>
        </p:txBody>
      </p:sp>
      <p:sp>
        <p:nvSpPr>
          <p:cNvPr id="1048718" name="TextBox 31"/>
          <p:cNvSpPr txBox="1"/>
          <p:nvPr/>
        </p:nvSpPr>
        <p:spPr>
          <a:xfrm>
            <a:off x="5486400" y="4443984"/>
            <a:ext cx="3383280" cy="52322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4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approval → pay freelancer  |  On valid dispute → route to resolution</a:t>
            </a:r>
          </a:p>
        </p:txBody>
      </p:sp>
      <p:sp>
        <p:nvSpPr>
          <p:cNvPr id="1048719" name="TextBox 32"/>
          <p:cNvSpPr txBox="1"/>
          <p:nvPr/>
        </p:nvSpPr>
        <p:spPr>
          <a:xfrm>
            <a:off x="2880360" y="5669280"/>
            <a:ext cx="6400800" cy="292388"/>
          </a:xfrm>
          <a:prstGeom prst="rect"/>
          <a:noFill/>
        </p:spPr>
        <p:txBody>
          <a:bodyPr anchor="t" wrap="square">
            <a:spAutoFit/>
          </a:bodyPr>
          <a:p>
            <a:pPr algn="ctr"/>
            <a:r>
              <a:rPr b="1" sz="13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major actions emit blockchain events for auditability.</a:t>
            </a:r>
          </a:p>
        </p:txBody>
      </p:sp>
      <p:sp>
        <p:nvSpPr>
          <p:cNvPr id="1048720" name="TextBox 33"/>
          <p:cNvSpPr txBox="1"/>
          <p:nvPr/>
        </p:nvSpPr>
        <p:spPr>
          <a:xfrm>
            <a:off x="502920" y="6510528"/>
            <a:ext cx="8961120" cy="253916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05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 TRUST  •  Blockchain-Based Freelance Contract &amp; Payment Escrow</a:t>
            </a:r>
          </a:p>
        </p:txBody>
      </p:sp>
      <p:sp>
        <p:nvSpPr>
          <p:cNvPr id="1048721" name="TextBox 34"/>
          <p:cNvSpPr txBox="1"/>
          <p:nvPr/>
        </p:nvSpPr>
        <p:spPr>
          <a:xfrm>
            <a:off x="11384280" y="6473952"/>
            <a:ext cx="320040" cy="230832"/>
          </a:xfrm>
          <a:prstGeom prst="rect"/>
          <a:noFill/>
        </p:spPr>
        <p:txBody>
          <a:bodyPr anchor="t" wrap="square">
            <a:spAutoFit/>
          </a:bodyPr>
          <a:p>
            <a:pPr algn="r"/>
            <a:r>
              <a:rPr b="0" sz="90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</p:cSld>
  <p:clrMapOvr>
    <a:masterClrMapping/>
  </p:clrMapOvr>
  <p:transition spd="slow">
    <p:comb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TextBox 1"/>
          <p:cNvSpPr txBox="1"/>
          <p:nvPr/>
        </p:nvSpPr>
        <p:spPr>
          <a:xfrm>
            <a:off x="502920" y="320040"/>
            <a:ext cx="457200" cy="276999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2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</a:p>
        </p:txBody>
      </p:sp>
      <p:sp>
        <p:nvSpPr>
          <p:cNvPr id="1048723" name="TextBox 2"/>
          <p:cNvSpPr txBox="1"/>
          <p:nvPr/>
        </p:nvSpPr>
        <p:spPr>
          <a:xfrm>
            <a:off x="960120" y="246888"/>
            <a:ext cx="10607040" cy="50292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27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1048724" name="TextBox 3"/>
          <p:cNvSpPr txBox="1"/>
          <p:nvPr/>
        </p:nvSpPr>
        <p:spPr>
          <a:xfrm>
            <a:off x="978408" y="749808"/>
            <a:ext cx="10241280" cy="338554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60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Suggested stack for a working hackathon prototype; components can be swapped based on team expertise.</a:t>
            </a:r>
          </a:p>
        </p:txBody>
      </p:sp>
      <p:sp>
        <p:nvSpPr>
          <p:cNvPr id="1048725" name="Rounded Rectangle 4"/>
          <p:cNvSpPr/>
          <p:nvPr/>
        </p:nvSpPr>
        <p:spPr>
          <a:xfrm>
            <a:off x="594360" y="1234440"/>
            <a:ext cx="3429000" cy="169164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26" name="TextBox 5"/>
          <p:cNvSpPr txBox="1"/>
          <p:nvPr/>
        </p:nvSpPr>
        <p:spPr>
          <a:xfrm>
            <a:off x="795528" y="1399032"/>
            <a:ext cx="3026664" cy="3231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5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</p:txBody>
      </p:sp>
      <p:sp>
        <p:nvSpPr>
          <p:cNvPr id="1048727" name="TextBox 6"/>
          <p:cNvSpPr txBox="1"/>
          <p:nvPr/>
        </p:nvSpPr>
        <p:spPr>
          <a:xfrm>
            <a:off x="795528" y="1801368"/>
            <a:ext cx="3026664" cy="52322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4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/ Next.js
Responsive dashboard</a:t>
            </a:r>
          </a:p>
        </p:txBody>
      </p:sp>
      <p:sp>
        <p:nvSpPr>
          <p:cNvPr id="1048728" name="Rounded Rectangle 7"/>
          <p:cNvSpPr/>
          <p:nvPr/>
        </p:nvSpPr>
        <p:spPr>
          <a:xfrm>
            <a:off x="4389120" y="1234440"/>
            <a:ext cx="3429000" cy="169164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29" name="TextBox 8"/>
          <p:cNvSpPr txBox="1"/>
          <p:nvPr/>
        </p:nvSpPr>
        <p:spPr>
          <a:xfrm>
            <a:off x="4590288" y="1399032"/>
            <a:ext cx="3026664" cy="3231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500">
                <a:solidFill>
                  <a:srgbClr val="8F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</p:txBody>
      </p:sp>
      <p:sp>
        <p:nvSpPr>
          <p:cNvPr id="1048730" name="TextBox 9"/>
          <p:cNvSpPr txBox="1"/>
          <p:nvPr/>
        </p:nvSpPr>
        <p:spPr>
          <a:xfrm>
            <a:off x="4590288" y="1801368"/>
            <a:ext cx="3026664" cy="52322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4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 / Express
REST APIs + auth</a:t>
            </a:r>
          </a:p>
        </p:txBody>
      </p:sp>
      <p:sp>
        <p:nvSpPr>
          <p:cNvPr id="1048731" name="Rounded Rectangle 10"/>
          <p:cNvSpPr/>
          <p:nvPr/>
        </p:nvSpPr>
        <p:spPr>
          <a:xfrm>
            <a:off x="8183880" y="1234440"/>
            <a:ext cx="3429000" cy="169164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32" name="TextBox 11"/>
          <p:cNvSpPr txBox="1"/>
          <p:nvPr/>
        </p:nvSpPr>
        <p:spPr>
          <a:xfrm>
            <a:off x="8385048" y="1399032"/>
            <a:ext cx="3026664" cy="3231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500">
                <a:solidFill>
                  <a:srgbClr val="43E2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</a:p>
        </p:txBody>
      </p:sp>
      <p:sp>
        <p:nvSpPr>
          <p:cNvPr id="1048733" name="TextBox 12"/>
          <p:cNvSpPr txBox="1"/>
          <p:nvPr/>
        </p:nvSpPr>
        <p:spPr>
          <a:xfrm>
            <a:off x="8385048" y="1801368"/>
            <a:ext cx="3026664" cy="52322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4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Ethereum-compatible test</a:t>
            </a:r>
            <a:r>
              <a:rPr b="0" dirty="0" sz="1400" lang="en-IN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 sz="14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
Solidity smart contracts</a:t>
            </a:r>
          </a:p>
        </p:txBody>
      </p:sp>
      <p:sp>
        <p:nvSpPr>
          <p:cNvPr id="1048734" name="Rounded Rectangle 13"/>
          <p:cNvSpPr/>
          <p:nvPr/>
        </p:nvSpPr>
        <p:spPr>
          <a:xfrm>
            <a:off x="594360" y="3337560"/>
            <a:ext cx="3429000" cy="169164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35" name="TextBox 14"/>
          <p:cNvSpPr txBox="1"/>
          <p:nvPr/>
        </p:nvSpPr>
        <p:spPr>
          <a:xfrm>
            <a:off x="795528" y="3502152"/>
            <a:ext cx="3026664" cy="3231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500">
                <a:solidFill>
                  <a:srgbClr val="FFB0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Wallet</a:t>
            </a:r>
          </a:p>
        </p:txBody>
      </p:sp>
      <p:sp>
        <p:nvSpPr>
          <p:cNvPr id="1048736" name="TextBox 15"/>
          <p:cNvSpPr txBox="1"/>
          <p:nvPr/>
        </p:nvSpPr>
        <p:spPr>
          <a:xfrm>
            <a:off x="795528" y="3904487"/>
            <a:ext cx="3026664" cy="52322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4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MetaMask / Wallet</a:t>
            </a:r>
            <a:r>
              <a:rPr b="0" dirty="0" sz="1400" lang="en-IN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 sz="14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
Transaction signing</a:t>
            </a:r>
          </a:p>
        </p:txBody>
      </p:sp>
      <p:sp>
        <p:nvSpPr>
          <p:cNvPr id="1048737" name="Rounded Rectangle 16"/>
          <p:cNvSpPr/>
          <p:nvPr/>
        </p:nvSpPr>
        <p:spPr>
          <a:xfrm>
            <a:off x="4389120" y="3337560"/>
            <a:ext cx="3429000" cy="169164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38" name="TextBox 17"/>
          <p:cNvSpPr txBox="1"/>
          <p:nvPr/>
        </p:nvSpPr>
        <p:spPr>
          <a:xfrm>
            <a:off x="4590288" y="3502152"/>
            <a:ext cx="3026664" cy="3231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5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</a:p>
        </p:txBody>
      </p:sp>
      <p:sp>
        <p:nvSpPr>
          <p:cNvPr id="1048739" name="TextBox 18"/>
          <p:cNvSpPr txBox="1"/>
          <p:nvPr/>
        </p:nvSpPr>
        <p:spPr>
          <a:xfrm>
            <a:off x="4590288" y="3904487"/>
            <a:ext cx="3026664" cy="52322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4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IPFS or encrypted cloud
Hash anchored on-chain</a:t>
            </a:r>
          </a:p>
        </p:txBody>
      </p:sp>
      <p:sp>
        <p:nvSpPr>
          <p:cNvPr id="1048740" name="Rounded Rectangle 19"/>
          <p:cNvSpPr/>
          <p:nvPr/>
        </p:nvSpPr>
        <p:spPr>
          <a:xfrm>
            <a:off x="8183880" y="3337560"/>
            <a:ext cx="3429000" cy="169164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41" name="TextBox 20"/>
          <p:cNvSpPr txBox="1"/>
          <p:nvPr/>
        </p:nvSpPr>
        <p:spPr>
          <a:xfrm>
            <a:off x="8385048" y="3502152"/>
            <a:ext cx="3026664" cy="3231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500">
                <a:solidFill>
                  <a:srgbClr val="8F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</p:txBody>
      </p:sp>
      <p:sp>
        <p:nvSpPr>
          <p:cNvPr id="1048742" name="TextBox 21"/>
          <p:cNvSpPr txBox="1"/>
          <p:nvPr/>
        </p:nvSpPr>
        <p:spPr>
          <a:xfrm>
            <a:off x="8385048" y="3904487"/>
            <a:ext cx="3026664" cy="52322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4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 / MongoDB
User &amp; analytics data</a:t>
            </a:r>
          </a:p>
        </p:txBody>
      </p:sp>
      <p:sp>
        <p:nvSpPr>
          <p:cNvPr id="1048743" name="TextBox 22"/>
          <p:cNvSpPr txBox="1"/>
          <p:nvPr/>
        </p:nvSpPr>
        <p:spPr>
          <a:xfrm>
            <a:off x="685800" y="5623560"/>
            <a:ext cx="10789920" cy="584775"/>
          </a:xfrm>
          <a:prstGeom prst="rect"/>
          <a:noFill/>
        </p:spPr>
        <p:txBody>
          <a:bodyPr anchor="t" wrap="square">
            <a:spAutoFit/>
          </a:bodyPr>
          <a:p>
            <a:pPr algn="ctr"/>
            <a:r>
              <a:rPr b="1" dirty="0" sz="16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Prototype principle: keep blockchain transactions minimal; store large/private content off-chain and anchor integrity proofs.</a:t>
            </a:r>
          </a:p>
        </p:txBody>
      </p:sp>
      <p:sp>
        <p:nvSpPr>
          <p:cNvPr id="1048744" name="TextBox 23"/>
          <p:cNvSpPr txBox="1"/>
          <p:nvPr/>
        </p:nvSpPr>
        <p:spPr>
          <a:xfrm>
            <a:off x="502920" y="6510528"/>
            <a:ext cx="8961120" cy="253916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05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 TRUST  •  Blockchain-Based Freelance Contract &amp; Payment Escrow</a:t>
            </a:r>
          </a:p>
        </p:txBody>
      </p:sp>
      <p:sp>
        <p:nvSpPr>
          <p:cNvPr id="1048745" name="TextBox 24"/>
          <p:cNvSpPr txBox="1"/>
          <p:nvPr/>
        </p:nvSpPr>
        <p:spPr>
          <a:xfrm>
            <a:off x="11384280" y="6473952"/>
            <a:ext cx="320040" cy="230832"/>
          </a:xfrm>
          <a:prstGeom prst="rect"/>
          <a:noFill/>
        </p:spPr>
        <p:txBody>
          <a:bodyPr anchor="t" wrap="square">
            <a:spAutoFit/>
          </a:bodyPr>
          <a:p>
            <a:pPr algn="r"/>
            <a:r>
              <a:rPr b="0" sz="90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6" name="TextBox 1"/>
          <p:cNvSpPr txBox="1"/>
          <p:nvPr/>
        </p:nvSpPr>
        <p:spPr>
          <a:xfrm>
            <a:off x="502920" y="320040"/>
            <a:ext cx="457200" cy="276999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2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</a:p>
        </p:txBody>
      </p:sp>
      <p:sp>
        <p:nvSpPr>
          <p:cNvPr id="1048747" name="TextBox 2"/>
          <p:cNvSpPr txBox="1"/>
          <p:nvPr/>
        </p:nvSpPr>
        <p:spPr>
          <a:xfrm>
            <a:off x="960120" y="246888"/>
            <a:ext cx="10607040" cy="50292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dirty="0" sz="27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&amp; Security</a:t>
            </a:r>
          </a:p>
        </p:txBody>
      </p:sp>
      <p:sp>
        <p:nvSpPr>
          <p:cNvPr id="1048748" name="Rounded Rectangle 4"/>
          <p:cNvSpPr/>
          <p:nvPr/>
        </p:nvSpPr>
        <p:spPr>
          <a:xfrm>
            <a:off x="685800" y="1143000"/>
            <a:ext cx="5166360" cy="123444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49" name="TextBox 5"/>
          <p:cNvSpPr txBox="1"/>
          <p:nvPr/>
        </p:nvSpPr>
        <p:spPr>
          <a:xfrm>
            <a:off x="886968" y="1307592"/>
            <a:ext cx="4764024" cy="3231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5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</a:p>
        </p:txBody>
      </p:sp>
      <p:sp>
        <p:nvSpPr>
          <p:cNvPr id="1048750" name="TextBox 6"/>
          <p:cNvSpPr txBox="1"/>
          <p:nvPr/>
        </p:nvSpPr>
        <p:spPr>
          <a:xfrm>
            <a:off x="886968" y="1709928"/>
            <a:ext cx="4764024" cy="52322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4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established EVM-compatible chains, Solidity and common wallet integrations.</a:t>
            </a:r>
          </a:p>
        </p:txBody>
      </p:sp>
      <p:sp>
        <p:nvSpPr>
          <p:cNvPr id="1048751" name="Rounded Rectangle 7"/>
          <p:cNvSpPr/>
          <p:nvPr/>
        </p:nvSpPr>
        <p:spPr>
          <a:xfrm>
            <a:off x="6309360" y="1143000"/>
            <a:ext cx="5166360" cy="123444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52" name="TextBox 8"/>
          <p:cNvSpPr txBox="1"/>
          <p:nvPr/>
        </p:nvSpPr>
        <p:spPr>
          <a:xfrm>
            <a:off x="6510528" y="1307592"/>
            <a:ext cx="4764024" cy="3231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500">
                <a:solidFill>
                  <a:srgbClr val="43E2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Efficiency</a:t>
            </a:r>
          </a:p>
        </p:txBody>
      </p:sp>
      <p:sp>
        <p:nvSpPr>
          <p:cNvPr id="1048753" name="TextBox 9"/>
          <p:cNvSpPr txBox="1"/>
          <p:nvPr/>
        </p:nvSpPr>
        <p:spPr>
          <a:xfrm>
            <a:off x="6510528" y="1709928"/>
            <a:ext cx="4764024" cy="52322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400" err="1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Testnet</a:t>
            </a:r>
            <a:r>
              <a:rPr b="0" dirty="0" sz="14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deployment for demo; optimize on-chain data and use off-chain storage.</a:t>
            </a:r>
          </a:p>
        </p:txBody>
      </p:sp>
      <p:sp>
        <p:nvSpPr>
          <p:cNvPr id="1048754" name="Rounded Rectangle 10"/>
          <p:cNvSpPr/>
          <p:nvPr/>
        </p:nvSpPr>
        <p:spPr>
          <a:xfrm>
            <a:off x="685800" y="2715768"/>
            <a:ext cx="5166360" cy="123444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55" name="TextBox 11"/>
          <p:cNvSpPr txBox="1"/>
          <p:nvPr/>
        </p:nvSpPr>
        <p:spPr>
          <a:xfrm>
            <a:off x="886968" y="2880360"/>
            <a:ext cx="4764024" cy="3231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500">
                <a:solidFill>
                  <a:srgbClr val="8F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</a:p>
        </p:txBody>
      </p:sp>
      <p:sp>
        <p:nvSpPr>
          <p:cNvPr id="1048756" name="TextBox 12"/>
          <p:cNvSpPr txBox="1"/>
          <p:nvPr/>
        </p:nvSpPr>
        <p:spPr>
          <a:xfrm>
            <a:off x="886968" y="3282696"/>
            <a:ext cx="4764024" cy="52322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4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access, signed transactions, reentrancy protection and contract validation.</a:t>
            </a:r>
          </a:p>
        </p:txBody>
      </p:sp>
      <p:sp>
        <p:nvSpPr>
          <p:cNvPr id="1048757" name="Rounded Rectangle 13"/>
          <p:cNvSpPr/>
          <p:nvPr/>
        </p:nvSpPr>
        <p:spPr>
          <a:xfrm>
            <a:off x="6309360" y="2715768"/>
            <a:ext cx="5166360" cy="123444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58" name="TextBox 14"/>
          <p:cNvSpPr txBox="1"/>
          <p:nvPr/>
        </p:nvSpPr>
        <p:spPr>
          <a:xfrm>
            <a:off x="6510528" y="2880360"/>
            <a:ext cx="4764024" cy="3231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500">
                <a:solidFill>
                  <a:srgbClr val="FFB0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Privacy</a:t>
            </a:r>
          </a:p>
        </p:txBody>
      </p:sp>
      <p:sp>
        <p:nvSpPr>
          <p:cNvPr id="1048759" name="TextBox 15"/>
          <p:cNvSpPr txBox="1"/>
          <p:nvPr/>
        </p:nvSpPr>
        <p:spPr>
          <a:xfrm>
            <a:off x="6510528" y="3282696"/>
            <a:ext cx="4764024" cy="52322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4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not store raw private files on-chain; store encrypted artifacts or content hashes.</a:t>
            </a:r>
          </a:p>
        </p:txBody>
      </p:sp>
      <p:sp>
        <p:nvSpPr>
          <p:cNvPr id="1048760" name="Rounded Rectangle 16"/>
          <p:cNvSpPr/>
          <p:nvPr/>
        </p:nvSpPr>
        <p:spPr>
          <a:xfrm>
            <a:off x="685800" y="4288536"/>
            <a:ext cx="5166360" cy="123444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61" name="TextBox 17"/>
          <p:cNvSpPr txBox="1"/>
          <p:nvPr/>
        </p:nvSpPr>
        <p:spPr>
          <a:xfrm>
            <a:off x="886968" y="4453127"/>
            <a:ext cx="4764024" cy="3231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500">
                <a:solidFill>
                  <a:srgbClr val="FF65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Dispute Safety</a:t>
            </a:r>
          </a:p>
        </p:txBody>
      </p:sp>
      <p:sp>
        <p:nvSpPr>
          <p:cNvPr id="1048762" name="TextBox 18"/>
          <p:cNvSpPr txBox="1"/>
          <p:nvPr/>
        </p:nvSpPr>
        <p:spPr>
          <a:xfrm>
            <a:off x="886968" y="4855464"/>
            <a:ext cx="4764024" cy="52322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4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Freeze affected milestone funds while a defined dispute process is active.</a:t>
            </a:r>
          </a:p>
        </p:txBody>
      </p:sp>
      <p:sp>
        <p:nvSpPr>
          <p:cNvPr id="1048763" name="Rounded Rectangle 19"/>
          <p:cNvSpPr/>
          <p:nvPr/>
        </p:nvSpPr>
        <p:spPr>
          <a:xfrm>
            <a:off x="6309360" y="4288536"/>
            <a:ext cx="5166360" cy="123444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64" name="TextBox 20"/>
          <p:cNvSpPr txBox="1"/>
          <p:nvPr/>
        </p:nvSpPr>
        <p:spPr>
          <a:xfrm>
            <a:off x="6510528" y="4453127"/>
            <a:ext cx="4764024" cy="3231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5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</a:p>
        </p:txBody>
      </p:sp>
      <p:sp>
        <p:nvSpPr>
          <p:cNvPr id="1048765" name="TextBox 21"/>
          <p:cNvSpPr txBox="1"/>
          <p:nvPr/>
        </p:nvSpPr>
        <p:spPr>
          <a:xfrm>
            <a:off x="6510528" y="4855464"/>
            <a:ext cx="4764024" cy="52322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4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Separate UI/API, blockchain service and storage so each layer can scale independently.</a:t>
            </a:r>
          </a:p>
        </p:txBody>
      </p:sp>
      <p:sp>
        <p:nvSpPr>
          <p:cNvPr id="1048766" name="TextBox 22"/>
          <p:cNvSpPr txBox="1"/>
          <p:nvPr/>
        </p:nvSpPr>
        <p:spPr>
          <a:xfrm>
            <a:off x="502920" y="6510528"/>
            <a:ext cx="8961120" cy="253916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05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 TRUST  •  Blockchain-Based Freelance Contract &amp; Payment Escrow</a:t>
            </a:r>
          </a:p>
        </p:txBody>
      </p:sp>
      <p:sp>
        <p:nvSpPr>
          <p:cNvPr id="1048767" name="TextBox 23"/>
          <p:cNvSpPr txBox="1"/>
          <p:nvPr/>
        </p:nvSpPr>
        <p:spPr>
          <a:xfrm>
            <a:off x="11384280" y="6473952"/>
            <a:ext cx="320040" cy="230832"/>
          </a:xfrm>
          <a:prstGeom prst="rect"/>
          <a:noFill/>
        </p:spPr>
        <p:txBody>
          <a:bodyPr anchor="t" wrap="square">
            <a:spAutoFit/>
          </a:bodyPr>
          <a:p>
            <a:pPr algn="r"/>
            <a:r>
              <a:rPr b="0" sz="90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</p:spTree>
  </p:cSld>
  <p:clrMapOvr>
    <a:masterClrMapping/>
  </p:clrMapOvr>
  <p:transition spd="slow">
    <p:comb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8" name="TextBox 1"/>
          <p:cNvSpPr txBox="1"/>
          <p:nvPr/>
        </p:nvSpPr>
        <p:spPr>
          <a:xfrm>
            <a:off x="502920" y="320040"/>
            <a:ext cx="457200" cy="276999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2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09</a:t>
            </a:r>
          </a:p>
        </p:txBody>
      </p:sp>
      <p:sp>
        <p:nvSpPr>
          <p:cNvPr id="1048769" name="TextBox 2"/>
          <p:cNvSpPr txBox="1"/>
          <p:nvPr/>
        </p:nvSpPr>
        <p:spPr>
          <a:xfrm>
            <a:off x="960120" y="246888"/>
            <a:ext cx="10607040" cy="50292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dirty="0" sz="27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&amp; Benefits</a:t>
            </a:r>
          </a:p>
        </p:txBody>
      </p:sp>
      <p:sp>
        <p:nvSpPr>
          <p:cNvPr id="1048770" name="TextBox 3"/>
          <p:cNvSpPr txBox="1"/>
          <p:nvPr/>
        </p:nvSpPr>
        <p:spPr>
          <a:xfrm>
            <a:off x="978408" y="749808"/>
            <a:ext cx="10241280" cy="338554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60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Builds confidence for both sides of the freelance marketplace.</a:t>
            </a:r>
          </a:p>
        </p:txBody>
      </p:sp>
      <p:sp>
        <p:nvSpPr>
          <p:cNvPr id="1048771" name="Rounded Rectangle 4"/>
          <p:cNvSpPr/>
          <p:nvPr/>
        </p:nvSpPr>
        <p:spPr>
          <a:xfrm>
            <a:off x="685800" y="1325880"/>
            <a:ext cx="3429000" cy="338328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72" name="TextBox 5"/>
          <p:cNvSpPr txBox="1"/>
          <p:nvPr/>
        </p:nvSpPr>
        <p:spPr>
          <a:xfrm>
            <a:off x="886968" y="1490472"/>
            <a:ext cx="3026664" cy="3231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5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FREELANCERS</a:t>
            </a:r>
          </a:p>
        </p:txBody>
      </p:sp>
      <p:sp>
        <p:nvSpPr>
          <p:cNvPr id="1048773" name="TextBox 6"/>
          <p:cNvSpPr txBox="1"/>
          <p:nvPr/>
        </p:nvSpPr>
        <p:spPr>
          <a:xfrm>
            <a:off x="886968" y="1892807"/>
            <a:ext cx="3026664" cy="1169551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4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Faster, rules-based payment
• Evidence of delivery
• Reduced non-payment risk
• Portable contract history</a:t>
            </a:r>
            <a:br>
              <a:rPr b="0" dirty="0" sz="1400" lang="en-US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b="0" dirty="0" sz="1400">
              <a:solidFill>
                <a:srgbClr val="F5F8F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74" name="Rounded Rectangle 7"/>
          <p:cNvSpPr/>
          <p:nvPr/>
        </p:nvSpPr>
        <p:spPr>
          <a:xfrm>
            <a:off x="4480560" y="1325880"/>
            <a:ext cx="3429000" cy="338328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75" name="TextBox 8"/>
          <p:cNvSpPr txBox="1"/>
          <p:nvPr/>
        </p:nvSpPr>
        <p:spPr>
          <a:xfrm>
            <a:off x="4681728" y="1490472"/>
            <a:ext cx="3026664" cy="3231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500">
                <a:solidFill>
                  <a:srgbClr val="43E2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CLIENTS</a:t>
            </a:r>
          </a:p>
        </p:txBody>
      </p:sp>
      <p:sp>
        <p:nvSpPr>
          <p:cNvPr id="1048776" name="TextBox 9"/>
          <p:cNvSpPr txBox="1"/>
          <p:nvPr/>
        </p:nvSpPr>
        <p:spPr>
          <a:xfrm>
            <a:off x="4681728" y="1892807"/>
            <a:ext cx="3026664" cy="1169551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4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Funds released only on conditions
• Clear milestones &amp; acceptance
• Traceable delivery evidence
• Lower platform dependency</a:t>
            </a:r>
            <a:br>
              <a:rPr b="0" dirty="0" sz="1400" lang="en-US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b="0" dirty="0" sz="1400">
              <a:solidFill>
                <a:srgbClr val="F5F8F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77" name="Rounded Rectangle 10"/>
          <p:cNvSpPr/>
          <p:nvPr/>
        </p:nvSpPr>
        <p:spPr>
          <a:xfrm>
            <a:off x="8275320" y="1325880"/>
            <a:ext cx="3429000" cy="338328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78" name="TextBox 11"/>
          <p:cNvSpPr txBox="1"/>
          <p:nvPr/>
        </p:nvSpPr>
        <p:spPr>
          <a:xfrm>
            <a:off x="8476488" y="1490472"/>
            <a:ext cx="3026664" cy="3231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500">
                <a:solidFill>
                  <a:srgbClr val="8F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PLATFORMS</a:t>
            </a:r>
          </a:p>
        </p:txBody>
      </p:sp>
      <p:sp>
        <p:nvSpPr>
          <p:cNvPr id="1048779" name="TextBox 12"/>
          <p:cNvSpPr txBox="1"/>
          <p:nvPr/>
        </p:nvSpPr>
        <p:spPr>
          <a:xfrm>
            <a:off x="8476488" y="1892807"/>
            <a:ext cx="3026664" cy="954107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4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Lower dispute workload
• Transparent audit trail
• Programmable marketplace rules
• New trust layer for global work</a:t>
            </a:r>
          </a:p>
        </p:txBody>
      </p:sp>
      <p:sp>
        <p:nvSpPr>
          <p:cNvPr id="1048780" name="Rounded Rectangle 13"/>
          <p:cNvSpPr/>
          <p:nvPr/>
        </p:nvSpPr>
        <p:spPr>
          <a:xfrm>
            <a:off x="1188720" y="5074920"/>
            <a:ext cx="9784080" cy="777240"/>
          </a:xfrm>
          <a:prstGeom prst="roundRect"/>
          <a:solidFill>
            <a:srgbClr val="182742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81" name="TextBox 14"/>
          <p:cNvSpPr txBox="1"/>
          <p:nvPr/>
        </p:nvSpPr>
        <p:spPr>
          <a:xfrm>
            <a:off x="1463040" y="5321808"/>
            <a:ext cx="1645920" cy="430887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1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</p:txBody>
      </p:sp>
      <p:sp>
        <p:nvSpPr>
          <p:cNvPr id="1048782" name="TextBox 15"/>
          <p:cNvSpPr txBox="1"/>
          <p:nvPr/>
        </p:nvSpPr>
        <p:spPr>
          <a:xfrm>
            <a:off x="2774732" y="5345774"/>
            <a:ext cx="7954228" cy="307777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dirty="0" sz="14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trust • fewer payment disputes • verifiable milestones • stronger digital contract accountability</a:t>
            </a:r>
          </a:p>
        </p:txBody>
      </p:sp>
      <p:sp>
        <p:nvSpPr>
          <p:cNvPr id="1048783" name="TextBox 16"/>
          <p:cNvSpPr txBox="1"/>
          <p:nvPr/>
        </p:nvSpPr>
        <p:spPr>
          <a:xfrm>
            <a:off x="502920" y="6510528"/>
            <a:ext cx="8961120" cy="253916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05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 TRUST  •  Blockchain-Based Freelance Contract &amp; Payment Escrow</a:t>
            </a:r>
          </a:p>
        </p:txBody>
      </p:sp>
      <p:sp>
        <p:nvSpPr>
          <p:cNvPr id="1048784" name="TextBox 17"/>
          <p:cNvSpPr txBox="1"/>
          <p:nvPr/>
        </p:nvSpPr>
        <p:spPr>
          <a:xfrm>
            <a:off x="11384280" y="6473952"/>
            <a:ext cx="320040" cy="230832"/>
          </a:xfrm>
          <a:prstGeom prst="rect"/>
          <a:noFill/>
        </p:spPr>
        <p:txBody>
          <a:bodyPr anchor="t" wrap="square">
            <a:spAutoFit/>
          </a:bodyPr>
          <a:p>
            <a:pPr algn="r"/>
            <a:r>
              <a:rPr b="0" sz="90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pic>
        <p:nvPicPr>
          <p:cNvPr id="2097156" name="Picture 18" descr="Freelance Images - Free Download on Magnific (formerly Freepik)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179655" y="2907320"/>
            <a:ext cx="2441290" cy="1591371"/>
          </a:xfrm>
          <a:prstGeom prst="rect"/>
        </p:spPr>
      </p:pic>
      <p:pic>
        <p:nvPicPr>
          <p:cNvPr id="2097157" name="Picture 19" descr="Understanding Client Services: Definition and Careers - Forage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781051" y="2932071"/>
            <a:ext cx="2771775" cy="1591372"/>
          </a:xfrm>
          <a:prstGeom prst="rect"/>
        </p:spPr>
      </p:pic>
      <p:pic>
        <p:nvPicPr>
          <p:cNvPr id="2097158" name="Picture 24" descr="Best 10 Freelance Platforms - Fees - Pros &amp; Cons - Subscription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8596188" y="2865646"/>
            <a:ext cx="2851941" cy="1604217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800">
        <p:circl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5" name="TextBox 1"/>
          <p:cNvSpPr txBox="1"/>
          <p:nvPr/>
        </p:nvSpPr>
        <p:spPr>
          <a:xfrm>
            <a:off x="502920" y="320040"/>
            <a:ext cx="457200" cy="276999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2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1048786" name="TextBox 2"/>
          <p:cNvSpPr txBox="1"/>
          <p:nvPr/>
        </p:nvSpPr>
        <p:spPr>
          <a:xfrm>
            <a:off x="960120" y="246888"/>
            <a:ext cx="10607040" cy="50292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dirty="0" sz="27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1048787" name="Rounded Rectangle 7"/>
          <p:cNvSpPr/>
          <p:nvPr/>
        </p:nvSpPr>
        <p:spPr>
          <a:xfrm>
            <a:off x="1225296" y="1207008"/>
            <a:ext cx="9994392" cy="4251960"/>
          </a:xfrm>
          <a:prstGeom prst="roundRect"/>
          <a:solidFill>
            <a:srgbClr val="121E34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88" name="TextBox 8"/>
          <p:cNvSpPr txBox="1"/>
          <p:nvPr/>
        </p:nvSpPr>
        <p:spPr>
          <a:xfrm>
            <a:off x="1767314" y="1385158"/>
            <a:ext cx="4855464" cy="32316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dirty="0" sz="150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1048789" name="TextBox 9"/>
          <p:cNvSpPr txBox="1"/>
          <p:nvPr/>
        </p:nvSpPr>
        <p:spPr>
          <a:xfrm>
            <a:off x="2208118" y="1928438"/>
            <a:ext cx="4855464" cy="289310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4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AI-assisted contract risk detection
• Reputation score based on verified work history
• Multi-chain / cross-border settlement
• DAO or third-party arbitration
• Stablecoin support where legally appropriate
• Mobile app + platform APIs
• Analytics for dispute and delivery patterns</a:t>
            </a:r>
          </a:p>
        </p:txBody>
      </p:sp>
      <p:sp>
        <p:nvSpPr>
          <p:cNvPr id="1048790" name="TextBox 10"/>
          <p:cNvSpPr txBox="1"/>
          <p:nvPr/>
        </p:nvSpPr>
        <p:spPr>
          <a:xfrm>
            <a:off x="502920" y="5806440"/>
            <a:ext cx="1264394" cy="307777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dirty="0" sz="14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ROADMAP</a:t>
            </a:r>
          </a:p>
        </p:txBody>
      </p:sp>
      <p:sp>
        <p:nvSpPr>
          <p:cNvPr id="1048791" name="TextBox 11"/>
          <p:cNvSpPr txBox="1"/>
          <p:nvPr/>
        </p:nvSpPr>
        <p:spPr>
          <a:xfrm>
            <a:off x="1600200" y="5789730"/>
            <a:ext cx="9326880" cy="307777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dirty="0" sz="14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Pilot marketplace → Multi-platform integration → Global trust infrastructure</a:t>
            </a:r>
          </a:p>
        </p:txBody>
      </p:sp>
      <p:sp>
        <p:nvSpPr>
          <p:cNvPr id="1048792" name="TextBox 12"/>
          <p:cNvSpPr txBox="1"/>
          <p:nvPr/>
        </p:nvSpPr>
        <p:spPr>
          <a:xfrm>
            <a:off x="502920" y="6510528"/>
            <a:ext cx="8961120" cy="253916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05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 TRUST  •  Blockchain-Based Freelance Contract &amp; Payment Escrow</a:t>
            </a:r>
          </a:p>
        </p:txBody>
      </p:sp>
      <p:sp>
        <p:nvSpPr>
          <p:cNvPr id="1048793" name="TextBox 13"/>
          <p:cNvSpPr txBox="1"/>
          <p:nvPr/>
        </p:nvSpPr>
        <p:spPr>
          <a:xfrm>
            <a:off x="11384280" y="6473952"/>
            <a:ext cx="320040" cy="230832"/>
          </a:xfrm>
          <a:prstGeom prst="rect"/>
          <a:noFill/>
        </p:spPr>
        <p:txBody>
          <a:bodyPr anchor="t" wrap="square">
            <a:spAutoFit/>
          </a:bodyPr>
          <a:p>
            <a:pPr algn="r"/>
            <a:r>
              <a:rPr b="0" sz="90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pic>
        <p:nvPicPr>
          <p:cNvPr id="2097159" name="Picture 18" descr="How the Freelance Economy is Shaping the Future of Tech Careers - Codar's  blo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096000" y="1925245"/>
            <a:ext cx="4735075" cy="2705757"/>
          </a:xfrm>
          <a:prstGeom prst="rect"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500">
        <p:checker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4" name="TextBox 1"/>
          <p:cNvSpPr txBox="1"/>
          <p:nvPr/>
        </p:nvSpPr>
        <p:spPr>
          <a:xfrm>
            <a:off x="502920" y="320040"/>
            <a:ext cx="457200" cy="276999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2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1048795" name="TextBox 2"/>
          <p:cNvSpPr txBox="1"/>
          <p:nvPr/>
        </p:nvSpPr>
        <p:spPr>
          <a:xfrm>
            <a:off x="960120" y="246888"/>
            <a:ext cx="10607040" cy="50292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dirty="0" sz="2700" lang="en-IN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Chain Trust?</a:t>
            </a:r>
          </a:p>
        </p:txBody>
      </p:sp>
      <p:sp>
        <p:nvSpPr>
          <p:cNvPr id="1048796" name="TextBox 3"/>
          <p:cNvSpPr txBox="1"/>
          <p:nvPr/>
        </p:nvSpPr>
        <p:spPr>
          <a:xfrm>
            <a:off x="978408" y="749808"/>
            <a:ext cx="10241280" cy="338554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60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clear proposition for the jury: make freelance agreements enforceable, transparent and easier to trust.</a:t>
            </a:r>
          </a:p>
        </p:txBody>
      </p:sp>
      <p:sp>
        <p:nvSpPr>
          <p:cNvPr id="1048797" name="Rounded Rectangle 4"/>
          <p:cNvSpPr/>
          <p:nvPr/>
        </p:nvSpPr>
        <p:spPr>
          <a:xfrm>
            <a:off x="868680" y="1325880"/>
            <a:ext cx="685800" cy="685800"/>
          </a:xfrm>
          <a:prstGeom prst="roundRect"/>
          <a:solidFill>
            <a:srgbClr val="182742"/>
          </a:solidFill>
          <a:ln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98" name="TextBox 5"/>
          <p:cNvSpPr txBox="1"/>
          <p:nvPr/>
        </p:nvSpPr>
        <p:spPr>
          <a:xfrm>
            <a:off x="868680" y="1527048"/>
            <a:ext cx="685800" cy="276999"/>
          </a:xfrm>
          <a:prstGeom prst="rect"/>
          <a:noFill/>
        </p:spPr>
        <p:txBody>
          <a:bodyPr anchor="t" wrap="square">
            <a:spAutoFit/>
          </a:bodyPr>
          <a:p>
            <a:pPr algn="ctr"/>
            <a:r>
              <a:rPr b="1" sz="12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</a:p>
        </p:txBody>
      </p:sp>
      <p:cxnSp>
        <p:nvCxnSpPr>
          <p:cNvPr id="3145736" name="Connector 6"/>
          <p:cNvCxnSpPr>
            <a:cxnSpLocks/>
          </p:cNvCxnSpPr>
          <p:nvPr/>
        </p:nvCxnSpPr>
        <p:spPr>
          <a:xfrm>
            <a:off x="1554480" y="1668780"/>
            <a:ext cx="274320" cy="0"/>
          </a:xfrm>
          <a:prstGeom prst="line"/>
          <a:ln w="25400">
            <a:solidFill>
              <a:srgbClr val="35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799" name="Rounded Rectangle 7"/>
          <p:cNvSpPr/>
          <p:nvPr/>
        </p:nvSpPr>
        <p:spPr>
          <a:xfrm>
            <a:off x="1828800" y="1325880"/>
            <a:ext cx="685800" cy="685800"/>
          </a:xfrm>
          <a:prstGeom prst="roundRect"/>
          <a:solidFill>
            <a:srgbClr val="182742"/>
          </a:solidFill>
          <a:ln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00" name="TextBox 8"/>
          <p:cNvSpPr txBox="1"/>
          <p:nvPr/>
        </p:nvSpPr>
        <p:spPr>
          <a:xfrm>
            <a:off x="1828800" y="1527048"/>
            <a:ext cx="685800" cy="276999"/>
          </a:xfrm>
          <a:prstGeom prst="rect"/>
          <a:noFill/>
        </p:spPr>
        <p:txBody>
          <a:bodyPr anchor="t" wrap="square">
            <a:spAutoFit/>
          </a:bodyPr>
          <a:p>
            <a:pPr algn="ctr"/>
            <a:r>
              <a:rPr b="1" sz="12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</p:txBody>
      </p:sp>
      <p:cxnSp>
        <p:nvCxnSpPr>
          <p:cNvPr id="3145737" name="Connector 9"/>
          <p:cNvCxnSpPr>
            <a:cxnSpLocks/>
          </p:cNvCxnSpPr>
          <p:nvPr/>
        </p:nvCxnSpPr>
        <p:spPr>
          <a:xfrm>
            <a:off x="2514600" y="1668780"/>
            <a:ext cx="274320" cy="0"/>
          </a:xfrm>
          <a:prstGeom prst="line"/>
          <a:ln w="25400">
            <a:solidFill>
              <a:srgbClr val="35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801" name="Rounded Rectangle 10"/>
          <p:cNvSpPr/>
          <p:nvPr/>
        </p:nvSpPr>
        <p:spPr>
          <a:xfrm>
            <a:off x="2788920" y="1325880"/>
            <a:ext cx="685800" cy="685800"/>
          </a:xfrm>
          <a:prstGeom prst="roundRect"/>
          <a:solidFill>
            <a:srgbClr val="182742"/>
          </a:solidFill>
          <a:ln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02" name="TextBox 11"/>
          <p:cNvSpPr txBox="1"/>
          <p:nvPr/>
        </p:nvSpPr>
        <p:spPr>
          <a:xfrm>
            <a:off x="2788920" y="1527048"/>
            <a:ext cx="685800" cy="276999"/>
          </a:xfrm>
          <a:prstGeom prst="rect"/>
          <a:noFill/>
        </p:spPr>
        <p:txBody>
          <a:bodyPr anchor="t" wrap="square">
            <a:spAutoFit/>
          </a:bodyPr>
          <a:p>
            <a:pPr algn="ctr"/>
            <a:r>
              <a:rPr b="1" sz="12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</a:p>
        </p:txBody>
      </p:sp>
      <p:cxnSp>
        <p:nvCxnSpPr>
          <p:cNvPr id="3145738" name="Connector 12"/>
          <p:cNvCxnSpPr>
            <a:cxnSpLocks/>
          </p:cNvCxnSpPr>
          <p:nvPr/>
        </p:nvCxnSpPr>
        <p:spPr>
          <a:xfrm>
            <a:off x="3474720" y="1668780"/>
            <a:ext cx="274319" cy="0"/>
          </a:xfrm>
          <a:prstGeom prst="line"/>
          <a:ln w="25400">
            <a:solidFill>
              <a:srgbClr val="35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803" name="Rounded Rectangle 13"/>
          <p:cNvSpPr/>
          <p:nvPr/>
        </p:nvSpPr>
        <p:spPr>
          <a:xfrm>
            <a:off x="3749040" y="1325880"/>
            <a:ext cx="685800" cy="685800"/>
          </a:xfrm>
          <a:prstGeom prst="roundRect"/>
          <a:solidFill>
            <a:srgbClr val="182742"/>
          </a:solidFill>
          <a:ln>
            <a:solidFill>
              <a:srgbClr val="3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04" name="TextBox 14"/>
          <p:cNvSpPr txBox="1"/>
          <p:nvPr/>
        </p:nvSpPr>
        <p:spPr>
          <a:xfrm>
            <a:off x="3749040" y="1527048"/>
            <a:ext cx="685800" cy="276999"/>
          </a:xfrm>
          <a:prstGeom prst="rect"/>
          <a:noFill/>
        </p:spPr>
        <p:txBody>
          <a:bodyPr anchor="t" wrap="square">
            <a:spAutoFit/>
          </a:bodyPr>
          <a:p>
            <a:pPr algn="ctr"/>
            <a:r>
              <a:rPr b="1" sz="12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B4</a:t>
            </a:r>
          </a:p>
        </p:txBody>
      </p:sp>
      <p:sp>
        <p:nvSpPr>
          <p:cNvPr id="1048805" name="TextBox 15"/>
          <p:cNvSpPr txBox="1"/>
          <p:nvPr/>
        </p:nvSpPr>
        <p:spPr>
          <a:xfrm>
            <a:off x="914400" y="2240280"/>
            <a:ext cx="2286000" cy="307777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dirty="0" sz="14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TAMPER-EVIDENT</a:t>
            </a:r>
          </a:p>
        </p:txBody>
      </p:sp>
      <p:sp>
        <p:nvSpPr>
          <p:cNvPr id="1048806" name="TextBox 16"/>
          <p:cNvSpPr txBox="1"/>
          <p:nvPr/>
        </p:nvSpPr>
        <p:spPr>
          <a:xfrm>
            <a:off x="914400" y="2606040"/>
            <a:ext cx="2286000" cy="738664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4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Contract and milestone events can be independently verified.</a:t>
            </a:r>
          </a:p>
        </p:txBody>
      </p:sp>
      <p:sp>
        <p:nvSpPr>
          <p:cNvPr id="1048807" name="TextBox 17"/>
          <p:cNvSpPr txBox="1"/>
          <p:nvPr/>
        </p:nvSpPr>
        <p:spPr>
          <a:xfrm>
            <a:off x="3886200" y="2240280"/>
            <a:ext cx="2286000" cy="307777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400">
                <a:solidFill>
                  <a:srgbClr val="43E2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PROGRAMMABLE</a:t>
            </a:r>
          </a:p>
        </p:txBody>
      </p:sp>
      <p:sp>
        <p:nvSpPr>
          <p:cNvPr id="1048808" name="TextBox 18"/>
          <p:cNvSpPr txBox="1"/>
          <p:nvPr/>
        </p:nvSpPr>
        <p:spPr>
          <a:xfrm>
            <a:off x="3886200" y="2606040"/>
            <a:ext cx="2286000" cy="52322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4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Escrow rules automate payment conditions.</a:t>
            </a:r>
          </a:p>
        </p:txBody>
      </p:sp>
      <p:sp>
        <p:nvSpPr>
          <p:cNvPr id="1048809" name="TextBox 19"/>
          <p:cNvSpPr txBox="1"/>
          <p:nvPr/>
        </p:nvSpPr>
        <p:spPr>
          <a:xfrm>
            <a:off x="6858000" y="2240280"/>
            <a:ext cx="2286000" cy="307777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400">
                <a:solidFill>
                  <a:srgbClr val="FFB0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FAIRER</a:t>
            </a:r>
          </a:p>
        </p:txBody>
      </p:sp>
      <p:sp>
        <p:nvSpPr>
          <p:cNvPr id="1048810" name="TextBox 20"/>
          <p:cNvSpPr txBox="1"/>
          <p:nvPr/>
        </p:nvSpPr>
        <p:spPr>
          <a:xfrm>
            <a:off x="6858000" y="2606040"/>
            <a:ext cx="2286000" cy="738664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4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parties see the same milestone state and evidence trail.</a:t>
            </a:r>
          </a:p>
        </p:txBody>
      </p:sp>
      <p:sp>
        <p:nvSpPr>
          <p:cNvPr id="1048811" name="TextBox 21"/>
          <p:cNvSpPr txBox="1"/>
          <p:nvPr/>
        </p:nvSpPr>
        <p:spPr>
          <a:xfrm>
            <a:off x="9829800" y="2240280"/>
            <a:ext cx="1554480" cy="307777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400">
                <a:solidFill>
                  <a:srgbClr val="8F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</a:t>
            </a:r>
          </a:p>
        </p:txBody>
      </p:sp>
      <p:sp>
        <p:nvSpPr>
          <p:cNvPr id="1048812" name="TextBox 22"/>
          <p:cNvSpPr txBox="1"/>
          <p:nvPr/>
        </p:nvSpPr>
        <p:spPr>
          <a:xfrm>
            <a:off x="9829800" y="2606040"/>
            <a:ext cx="1554480" cy="523220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4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as a modular trust layer.</a:t>
            </a:r>
          </a:p>
        </p:txBody>
      </p:sp>
      <p:sp>
        <p:nvSpPr>
          <p:cNvPr id="1048813" name="Rounded Rectangle 23"/>
          <p:cNvSpPr/>
          <p:nvPr/>
        </p:nvSpPr>
        <p:spPr>
          <a:xfrm>
            <a:off x="1143000" y="4160520"/>
            <a:ext cx="9875520" cy="1143000"/>
          </a:xfrm>
          <a:prstGeom prst="roundRect"/>
          <a:solidFill>
            <a:srgbClr val="182742"/>
          </a:solidFill>
          <a:ln>
            <a:solidFill>
              <a:srgbClr val="18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14" name="TextBox 24"/>
          <p:cNvSpPr txBox="1"/>
          <p:nvPr/>
        </p:nvSpPr>
        <p:spPr>
          <a:xfrm>
            <a:off x="1463040" y="4416552"/>
            <a:ext cx="1828800" cy="369332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sz="1800">
                <a:solidFill>
                  <a:srgbClr val="35D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 TRUST</a:t>
            </a:r>
          </a:p>
        </p:txBody>
      </p:sp>
      <p:sp>
        <p:nvSpPr>
          <p:cNvPr id="1048815" name="TextBox 25"/>
          <p:cNvSpPr txBox="1"/>
          <p:nvPr/>
        </p:nvSpPr>
        <p:spPr>
          <a:xfrm>
            <a:off x="3291840" y="4315968"/>
            <a:ext cx="7223760" cy="584775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1" dirty="0" sz="16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agreement to delivery to payment — every critical step has a verifiable digital trail.</a:t>
            </a:r>
          </a:p>
        </p:txBody>
      </p:sp>
      <p:sp>
        <p:nvSpPr>
          <p:cNvPr id="1048816" name="TextBox 26"/>
          <p:cNvSpPr txBox="1"/>
          <p:nvPr/>
        </p:nvSpPr>
        <p:spPr>
          <a:xfrm>
            <a:off x="685800" y="5806440"/>
            <a:ext cx="10789920" cy="384721"/>
          </a:xfrm>
          <a:prstGeom prst="rect"/>
          <a:noFill/>
        </p:spPr>
        <p:txBody>
          <a:bodyPr anchor="t" wrap="square">
            <a:spAutoFit/>
          </a:bodyPr>
          <a:p>
            <a:pPr algn="ctr"/>
            <a:r>
              <a:rPr b="1" sz="1900">
                <a:solidFill>
                  <a:srgbClr val="F5F8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 •  Questions</a:t>
            </a:r>
          </a:p>
        </p:txBody>
      </p:sp>
      <p:sp>
        <p:nvSpPr>
          <p:cNvPr id="1048817" name="TextBox 27"/>
          <p:cNvSpPr txBox="1"/>
          <p:nvPr/>
        </p:nvSpPr>
        <p:spPr>
          <a:xfrm>
            <a:off x="502920" y="6510528"/>
            <a:ext cx="8961120" cy="253916"/>
          </a:xfrm>
          <a:prstGeom prst="rect"/>
          <a:noFill/>
        </p:spPr>
        <p:txBody>
          <a:bodyPr anchor="t" wrap="square">
            <a:spAutoFit/>
          </a:bodyPr>
          <a:p>
            <a:pPr algn="l"/>
            <a:r>
              <a:rPr b="0" dirty="0" sz="105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 TRUST  •  Blockchain-Based Freelance Contract &amp; Payment Escrow</a:t>
            </a:r>
          </a:p>
        </p:txBody>
      </p:sp>
      <p:sp>
        <p:nvSpPr>
          <p:cNvPr id="1048818" name="TextBox 28"/>
          <p:cNvSpPr txBox="1"/>
          <p:nvPr/>
        </p:nvSpPr>
        <p:spPr>
          <a:xfrm>
            <a:off x="11384280" y="6473952"/>
            <a:ext cx="320040" cy="230832"/>
          </a:xfrm>
          <a:prstGeom prst="rect"/>
          <a:noFill/>
        </p:spPr>
        <p:txBody>
          <a:bodyPr anchor="t" wrap="square">
            <a:spAutoFit/>
          </a:bodyPr>
          <a:p>
            <a:pPr algn="r"/>
            <a:r>
              <a:rPr b="0" sz="900">
                <a:solidFill>
                  <a:srgbClr val="B0BED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CHAIN TRUST – SIH Hackathon Idea Presentation</dc:title>
  <dc:creator>Team Chain Trust</dc:creator>
  <cp:lastModifiedBy>V S aruthra</cp:lastModifiedBy>
  <dcterms:created xsi:type="dcterms:W3CDTF">2013-01-26T22:14:16Z</dcterms:created>
  <dcterms:modified xsi:type="dcterms:W3CDTF">2026-08-21T13:15:25Z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1c8f28c0a6544776b9a0a6d4c9687fd2_23</vt:lpwstr>
  </property>
</Properties>
</file>